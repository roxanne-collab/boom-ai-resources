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86" r:id="rId9"/>
    <p:sldId id="263" r:id="rId10"/>
    <p:sldId id="264" r:id="rId11"/>
    <p:sldId id="271" r:id="rId12"/>
    <p:sldId id="270" r:id="rId13"/>
    <p:sldId id="283" r:id="rId14"/>
    <p:sldId id="272" r:id="rId15"/>
    <p:sldId id="273" r:id="rId16"/>
    <p:sldId id="275" r:id="rId17"/>
    <p:sldId id="274" r:id="rId18"/>
    <p:sldId id="284" r:id="rId19"/>
    <p:sldId id="280" r:id="rId20"/>
    <p:sldId id="285" r:id="rId21"/>
    <p:sldId id="277" r:id="rId22"/>
    <p:sldId id="278" r:id="rId23"/>
    <p:sldId id="279" r:id="rId24"/>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811390-D799-E34F-BA29-DDDECAFC3651}" v="31" dt="2026-05-02T03:57:12.9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589"/>
  </p:normalViewPr>
  <p:slideViewPr>
    <p:cSldViewPr snapToGrid="0" snapToObjects="1">
      <p:cViewPr varScale="1">
        <p:scale>
          <a:sx n="60" d="100"/>
          <a:sy n="60" d="100"/>
        </p:scale>
        <p:origin x="184" y="8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4012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you know me as Roxanne from Meet in Kamloops. I've been lurking around business events in this industry since 2018 — a lot of us know each other, go to the same events every year. What you might not know is that Meet in Kamloops is actually run by my team at Boom Business Solutions — my comms and PR firm based in Kamloops. I'm telling you that because having a team to do the work that normally falls on one or two people at a destination is what gives me the space to do something I think a lot of us haven't had permission to do yet: actually sit with AI, play with it, break it, and figure out what it can genuinely do for a workday like mine.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context matters — because a lot of the AI sessions I've sat through at conferences can make you feel overwhelmed almost immediately. The question I always had was: how does this person talking to me about AI have the time to learn all of this AND do their job in this industry? So before we go anywhere, I want to name what you've probably sat through.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know the ones. The long, convoluted workflow with no entry point. The 25 rapid-fire steps thrown at you like a firehose. The slide with seventeen tools on it. The 45-minute product pitch that somehow leaves you responsible for implementation. None of that ever made me feel capable. It made my head spin. So I'd check out — tell myself I'd figure it out later. And later never came. If any of that hits home: you are not behind. You are just waiting for a starting point that actually makes sense for how you work.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only thing I want you to walk away with today. One thing. That's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don't need to know how to use AI perfectly to get value from it. You just need to know what problem you're trying to solve. Because here's what most people don't realize — you can just talk to it. You can tell it what you're dealing with and ask it to help you figure out what to do next. It asks questions. You answer them. And suddenly you have something useful.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that concrete. Here's a scenario every single person in this room has lived.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just got back from a fam. You were a planner on someone else's fam, or you were the destination running one. Either way — your notes are everywhere. A voice memo in the van. Three sentences in your notes app that made sense at the time. A napkin jammed in the bottom of your bag. An email you sent yourself at 9pm after a local wine tasting, with three words you were sure would help you write the best report for your client. Or you're the destination, with notes in all the same places from conversations with planners, and you need to get it back to them fast. All you have is sleep you didn't get, you've been out too late three nights in a row, and random notes scattered across your digital and physical work life. (Pause for the knowing laughs.) I've only been on one side of that fam — the destination side. But I've spent enough time with my planner friends, on their fams and after them, to know this hits just as hard from the other side. Ahem — Sam Rosen. You know who you are.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01ACE-16E3-2D2D-8CE6-1074919EE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7418AC-A320-10A8-C35C-39982EA4A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DBE8F3-81ED-2297-CBBE-2E4CF59B36F3}"/>
              </a:ext>
            </a:extLst>
          </p:cNvPr>
          <p:cNvSpPr>
            <a:spLocks noGrp="1"/>
          </p:cNvSpPr>
          <p:nvPr>
            <p:ph type="body" idx="1"/>
          </p:nvPr>
        </p:nvSpPr>
        <p:spPr/>
        <p:txBody>
          <a:bodyPr/>
          <a:lstStyle/>
          <a:p>
            <a:r>
              <a:rPr lang="en-US" dirty="0"/>
              <a:t>You just got back from a fam. You were a planner on someone else's fam, or you were the destination running one. Either way — your notes are everywhere. A voice memo in the van. Three sentences in your notes app that made sense at the time. A napkin jammed in the bottom of your bag. An email you sent yourself at 9pm after a local wine tasting, with three words you were sure would help you write the best report for your client. Or you're the destination, with notes in all the same places from conversations with planners, and you need to get it back to them fast. All you have is sleep you didn't get, you've been out too late three nights in a row, and random notes scattered across your digital and physical work life. (Pause for the knowing laughs.) I've only been on one side of that fam — the destination side. But I've spent enough time with my planner friends, on their fams and after them, to know this hits just as hard from the other side. Ahem — Sam Rosen. You know who you are.</a:t>
            </a:r>
          </a:p>
        </p:txBody>
      </p:sp>
      <p:sp>
        <p:nvSpPr>
          <p:cNvPr id="4" name="Slide Number Placeholder 3">
            <a:extLst>
              <a:ext uri="{FF2B5EF4-FFF2-40B4-BE49-F238E27FC236}">
                <a16:creationId xmlns:a16="http://schemas.microsoft.com/office/drawing/2014/main" id="{7443573F-50E4-9752-D28C-81FAE4CD18F9}"/>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1421198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I want you to try. With whatever AI tool you already have access to. Doesn't matter which one — they're all capable of this.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it up. Start talking. Tell it you just got back from a fam. Then give it everything you have — photos of napkins, screenshots of that 9:30pm text, the fam itinerary PDF, all the destination materials you were handed, the client's RFP if you have it. Attach all of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have a deliverable to create: 'I need to write this, and here's everything I have. Ask me clarifying questions until you're 95% confident you can complete the task successfully.' That one alone will change your output.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are the prompts I actually use. The ones that work when you have a project, a problem, or a pile of notes and no idea what to do with any of it. Keep them. Screenshot them. The next few slides are prompts you can copy-paste today.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89859-F2FE-2B7B-7575-EC8A06352E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2499B7-ED94-92AA-AEEA-5F90551B9E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8F0BED-6310-C2C9-4159-6AEEDE9CB16B}"/>
              </a:ext>
            </a:extLst>
          </p:cNvPr>
          <p:cNvSpPr>
            <a:spLocks noGrp="1"/>
          </p:cNvSpPr>
          <p:nvPr>
            <p:ph type="body" idx="1"/>
          </p:nvPr>
        </p:nvSpPr>
        <p:spPr/>
        <p:txBody>
          <a:bodyPr/>
          <a:lstStyle/>
          <a:p>
            <a:r>
              <a:rPr lang="en-US" dirty="0"/>
              <a:t>And the universal starter — if you only remember one thing on this slide, remember this one. 'Here's what I'm dealing with. I'm not sure what I need yet. Can you help me figure out where to start?' That's the prompt.</a:t>
            </a:r>
          </a:p>
        </p:txBody>
      </p:sp>
      <p:sp>
        <p:nvSpPr>
          <p:cNvPr id="4" name="Slide Number Placeholder 3">
            <a:extLst>
              <a:ext uri="{FF2B5EF4-FFF2-40B4-BE49-F238E27FC236}">
                <a16:creationId xmlns:a16="http://schemas.microsoft.com/office/drawing/2014/main" id="{799D6B9C-D59D-445F-EE2E-68AFED554F12}"/>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791249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you're starting from scratch: 'I'm working on X and I don't know where to start. Can you ask me questions to help me figure out the right first step?' Then — my favourite — 'What am I probably forgetting or underestimating?'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something is not working: 'Here's the situation, here's what I've tried, here's what's not working. What would you try next?' Or: 'Can you ask me questions to help me figure out what the actual problem is?'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universal starter — if you only remember one thing on this slide, remember this one. 'Here's what I'm dealing with. I'm not sure what I need yet. Can you help me figure out where to start?' That's the prompt.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need to communicate something hard: 'I need to send this email. I want it to sound like me, not a robot. Here's the situation. Here's my draft.' Works every time.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216B7-F9E6-DA43-9F2E-343E43AA8F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B7103A-4B0E-35D9-E0A4-9B8ABEEDD2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0F4655-E660-F26A-A7D7-C9E397C37458}"/>
              </a:ext>
            </a:extLst>
          </p:cNvPr>
          <p:cNvSpPr>
            <a:spLocks noGrp="1"/>
          </p:cNvSpPr>
          <p:nvPr>
            <p:ph type="body" idx="1"/>
          </p:nvPr>
        </p:nvSpPr>
        <p:spPr/>
        <p:txBody>
          <a:bodyPr/>
          <a:lstStyle/>
          <a:p>
            <a:r>
              <a:rPr lang="en-US" dirty="0"/>
              <a:t>When something is not working: 'Here's the situation, here's what I've tried, here's what's not working. What would you try next?' Or: 'Can you ask me questions to help me figure out what the actual problem is?'</a:t>
            </a:r>
          </a:p>
        </p:txBody>
      </p:sp>
      <p:sp>
        <p:nvSpPr>
          <p:cNvPr id="4" name="Slide Number Placeholder 3">
            <a:extLst>
              <a:ext uri="{FF2B5EF4-FFF2-40B4-BE49-F238E27FC236}">
                <a16:creationId xmlns:a16="http://schemas.microsoft.com/office/drawing/2014/main" id="{2CDCE57C-B8C5-0551-15E0-F567F35AC986}"/>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7928884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F5784-9F66-0A53-5790-7D55A3C34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E92876-5CD6-8181-3150-8988DE3C31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9B646A-196F-A259-932F-B4FA45127A1B}"/>
              </a:ext>
            </a:extLst>
          </p:cNvPr>
          <p:cNvSpPr>
            <a:spLocks noGrp="1"/>
          </p:cNvSpPr>
          <p:nvPr>
            <p:ph type="body" idx="1"/>
          </p:nvPr>
        </p:nvSpPr>
        <p:spPr/>
        <p:txBody>
          <a:bodyPr/>
          <a:lstStyle/>
          <a:p>
            <a:r>
              <a:rPr lang="en-US" dirty="0"/>
              <a:t>When you need to communicate something hard: 'I need to send this email. I want it to sound like me, not a robot. Here's the situation. Here's my draft.' Works every time.</a:t>
            </a:r>
          </a:p>
        </p:txBody>
      </p:sp>
      <p:sp>
        <p:nvSpPr>
          <p:cNvPr id="4" name="Slide Number Placeholder 3">
            <a:extLst>
              <a:ext uri="{FF2B5EF4-FFF2-40B4-BE49-F238E27FC236}">
                <a16:creationId xmlns:a16="http://schemas.microsoft.com/office/drawing/2014/main" id="{8BB4FE86-2691-F3F1-E9CD-6A5790646E38}"/>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8856233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 that's it. That's the starting point. You don't need a 12-step workflow. You don't need to know the perfect prompt. You just need to open it up and tell it what you're dealing with. The planners and partners and destinations who are going to feel the biggest lift from AI aren't the ones who took the most courses on it. They are the ones who got comfortable just talking to it. Start there. The rest follows.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 if you want help getting there — I'm running a small-group AI training program built specifically for our industry. Six live sessions, plus an ongoing community of practice. We cover everything we just talked about, plus building your context documents, role-specific AI assistants, and the workflows you'll actually use. There's a conference rate for anyone who signs up by the end of next week. Scan the QR code or grab me after this session.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952500" y="952500"/>
            <a:ext cx="5506283"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96">
                <a:solidFill>
                  <a:srgbClr val="008EAA"/>
                </a:solidFill>
                <a:latin typeface="Avenir" pitchFamily="34" charset="0"/>
                <a:ea typeface="-apple-system" pitchFamily="34" charset="-122"/>
                <a:cs typeface="-apple-system" pitchFamily="34" charset="-120"/>
              </a:rPr>
              <a:t>GMID 2026 · MPI TORONTO · MAY 6</a:t>
            </a:r>
            <a:endParaRPr lang="en-US" sz="1800" dirty="0"/>
          </a:p>
        </p:txBody>
      </p:sp>
      <p:pic>
        <p:nvPicPr>
          <p:cNvPr id="3" name="Image 0" descr="preencoded.png"/>
          <p:cNvPicPr>
            <a:picLocks noChangeAspect="1"/>
          </p:cNvPicPr>
          <p:nvPr/>
        </p:nvPicPr>
        <p:blipFill>
          <a:blip r:embed="rId3"/>
          <a:stretch>
            <a:fillRect/>
          </a:stretch>
        </p:blipFill>
        <p:spPr>
          <a:xfrm>
            <a:off x="16649700" y="952500"/>
            <a:ext cx="685800" cy="685800"/>
          </a:xfrm>
          <a:prstGeom prst="rect">
            <a:avLst/>
          </a:prstGeom>
        </p:spPr>
      </p:pic>
      <p:sp>
        <p:nvSpPr>
          <p:cNvPr id="4" name="Shape 1"/>
          <p:cNvSpPr/>
          <p:nvPr/>
        </p:nvSpPr>
        <p:spPr>
          <a:xfrm>
            <a:off x="952500" y="2227957"/>
            <a:ext cx="457200" cy="647700"/>
          </a:xfrm>
          <a:prstGeom prst="rect">
            <a:avLst/>
          </a:prstGeom>
          <a:solidFill>
            <a:srgbClr val="008EAA"/>
          </a:solidFill>
          <a:ln/>
        </p:spPr>
        <p:txBody>
          <a:bodyPr/>
          <a:lstStyle/>
          <a:p>
            <a:endParaRPr lang="en-US"/>
          </a:p>
        </p:txBody>
      </p:sp>
      <p:sp>
        <p:nvSpPr>
          <p:cNvPr id="5" name="Text 2"/>
          <p:cNvSpPr/>
          <p:nvPr/>
        </p:nvSpPr>
        <p:spPr>
          <a:xfrm>
            <a:off x="1676400" y="2418457"/>
            <a:ext cx="4124577"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96">
                <a:solidFill>
                  <a:srgbClr val="141414"/>
                </a:solidFill>
                <a:latin typeface="Avenir" pitchFamily="34" charset="0"/>
                <a:ea typeface="-apple-system" pitchFamily="34" charset="-122"/>
                <a:cs typeface="-apple-system" pitchFamily="34" charset="-120"/>
              </a:rPr>
              <a:t>A 10-MINUTE FIELD GUIDE</a:t>
            </a:r>
            <a:endParaRPr lang="en-US" sz="1800" dirty="0"/>
          </a:p>
        </p:txBody>
      </p:sp>
      <p:sp>
        <p:nvSpPr>
          <p:cNvPr id="6" name="Text 3"/>
          <p:cNvSpPr/>
          <p:nvPr/>
        </p:nvSpPr>
        <p:spPr>
          <a:xfrm>
            <a:off x="952500" y="3256657"/>
            <a:ext cx="16874490" cy="3726061"/>
          </a:xfrm>
          <a:prstGeom prst="rect">
            <a:avLst/>
          </a:prstGeom>
          <a:noFill/>
          <a:ln/>
        </p:spPr>
        <p:txBody>
          <a:bodyPr wrap="square" lIns="25400" tIns="25400" rIns="25400" bIns="25400" rtlCol="0" anchor="t">
            <a:normAutofit fontScale="92500"/>
          </a:bodyPr>
          <a:lstStyle/>
          <a:p>
            <a:pPr marL="0" indent="0" algn="l">
              <a:lnSpc>
                <a:spcPct val="88000"/>
              </a:lnSpc>
              <a:buNone/>
            </a:pPr>
            <a:r>
              <a:rPr lang="en-US" sz="16500" b="1" kern="0" spc="-577" dirty="0">
                <a:solidFill>
                  <a:srgbClr val="141414"/>
                </a:solidFill>
                <a:latin typeface="Catamaran" pitchFamily="34" charset="0"/>
                <a:ea typeface="-apple-system" pitchFamily="34" charset="-122"/>
                <a:cs typeface="-apple-system" pitchFamily="34" charset="-120"/>
              </a:rPr>
              <a:t>You can just </a:t>
            </a:r>
            <a:r>
              <a:rPr lang="en-US" sz="16500" b="1" kern="0" spc="-577" dirty="0">
                <a:solidFill>
                  <a:srgbClr val="008EAA"/>
                </a:solidFill>
                <a:latin typeface="Catamaran" pitchFamily="34" charset="0"/>
                <a:ea typeface="-apple-system" pitchFamily="34" charset="-122"/>
                <a:cs typeface="-apple-system" pitchFamily="34" charset="-120"/>
              </a:rPr>
              <a:t>talk to it.</a:t>
            </a:r>
            <a:endParaRPr lang="en-US" sz="16500" dirty="0"/>
          </a:p>
        </p:txBody>
      </p:sp>
      <p:sp>
        <p:nvSpPr>
          <p:cNvPr id="7" name="Text 4"/>
          <p:cNvSpPr/>
          <p:nvPr/>
        </p:nvSpPr>
        <p:spPr>
          <a:xfrm>
            <a:off x="952500" y="7478018"/>
            <a:ext cx="12753975" cy="99060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3000" b="1" dirty="0">
                <a:solidFill>
                  <a:srgbClr val="141414"/>
                </a:solidFill>
                <a:latin typeface="Avenir" pitchFamily="34" charset="0"/>
                <a:ea typeface="-apple-system" pitchFamily="34" charset="-122"/>
                <a:cs typeface="-apple-system" pitchFamily="34" charset="-120"/>
              </a:rPr>
              <a:t>A starting point for using AI that doesn't require 25 steps, 17 tools, or a weekend of homework.</a:t>
            </a:r>
            <a:endParaRPr lang="en-US" sz="3000" dirty="0"/>
          </a:p>
        </p:txBody>
      </p:sp>
      <p:sp>
        <p:nvSpPr>
          <p:cNvPr id="8" name="Text 5"/>
          <p:cNvSpPr/>
          <p:nvPr/>
        </p:nvSpPr>
        <p:spPr>
          <a:xfrm>
            <a:off x="952500" y="9020175"/>
            <a:ext cx="5548132" cy="352425"/>
          </a:xfrm>
          <a:prstGeom prst="rect">
            <a:avLst/>
          </a:prstGeom>
          <a:noFill/>
          <a:ln/>
        </p:spPr>
        <p:txBody>
          <a:bodyPr wrap="square" lIns="25400" tIns="25400" rIns="25400" bIns="25400" rtlCol="0" anchor="t">
            <a:normAutofit lnSpcReduction="10000"/>
          </a:bodyPr>
          <a:lstStyle/>
          <a:p>
            <a:pPr marL="0" indent="0" algn="l">
              <a:buNone/>
            </a:pPr>
            <a:r>
              <a:rPr lang="en-US" sz="2100" b="1">
                <a:solidFill>
                  <a:srgbClr val="141414"/>
                </a:solidFill>
                <a:latin typeface="Avenir" pitchFamily="34" charset="0"/>
                <a:ea typeface="-apple-system" pitchFamily="34" charset="-122"/>
                <a:cs typeface="-apple-system" pitchFamily="34" charset="-120"/>
              </a:rPr>
              <a:t>Roxanne Kennedy</a:t>
            </a:r>
            <a:r>
              <a:rPr lang="en-US" sz="2100" b="1">
                <a:solidFill>
                  <a:srgbClr val="141414">
                    <a:alpha val="55000"/>
                  </a:srgbClr>
                </a:solidFill>
                <a:latin typeface="Avenir" pitchFamily="34" charset="0"/>
                <a:ea typeface="-apple-system" pitchFamily="34" charset="-122"/>
                <a:cs typeface="-apple-system" pitchFamily="34" charset="-120"/>
              </a:rPr>
              <a:t>· Boom Business Solutions</a:t>
            </a:r>
            <a:endParaRPr lang="en-US" sz="2100" dirty="0"/>
          </a:p>
        </p:txBody>
      </p:sp>
      <p:sp>
        <p:nvSpPr>
          <p:cNvPr id="9" name="Text 6"/>
          <p:cNvSpPr/>
          <p:nvPr/>
        </p:nvSpPr>
        <p:spPr>
          <a:xfrm>
            <a:off x="13906500" y="9034463"/>
            <a:ext cx="3531870" cy="338138"/>
          </a:xfrm>
          <a:prstGeom prst="rect">
            <a:avLst/>
          </a:prstGeom>
          <a:noFill/>
          <a:ln/>
        </p:spPr>
        <p:txBody>
          <a:bodyPr wrap="square" lIns="25400" tIns="25400" rIns="25400" bIns="25400" rtlCol="0" anchor="t">
            <a:normAutofit/>
          </a:bodyPr>
          <a:lstStyle/>
          <a:p>
            <a:pPr marL="0" indent="0" algn="l">
              <a:buNone/>
            </a:pPr>
            <a:r>
              <a:rPr lang="en-US" sz="1800" b="1">
                <a:solidFill>
                  <a:srgbClr val="141414">
                    <a:alpha val="55000"/>
                  </a:srgbClr>
                </a:solidFill>
                <a:latin typeface="Avenir" pitchFamily="34" charset="0"/>
                <a:ea typeface="JetBrains Mono" pitchFamily="34" charset="-122"/>
                <a:cs typeface="JetBrains Mono" pitchFamily="34" charset="-120"/>
              </a:rPr>
              <a:t>boombusinesssolutions.com</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952500" y="1143000"/>
            <a:ext cx="7783987"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96">
                <a:solidFill>
                  <a:srgbClr val="008EAA"/>
                </a:solidFill>
                <a:latin typeface="Avenir" pitchFamily="34" charset="0"/>
                <a:ea typeface="-apple-system" pitchFamily="34" charset="-122"/>
                <a:cs typeface="-apple-system" pitchFamily="34" charset="-120"/>
              </a:rPr>
              <a:t>QUICK CONTEXT</a:t>
            </a:r>
            <a:endParaRPr lang="en-US" sz="1800" dirty="0"/>
          </a:p>
        </p:txBody>
      </p:sp>
      <p:sp>
        <p:nvSpPr>
          <p:cNvPr id="3" name="Text 1"/>
          <p:cNvSpPr/>
          <p:nvPr/>
        </p:nvSpPr>
        <p:spPr>
          <a:xfrm>
            <a:off x="952500" y="1752600"/>
            <a:ext cx="7783987" cy="4924127"/>
          </a:xfrm>
          <a:prstGeom prst="rect">
            <a:avLst/>
          </a:prstGeom>
          <a:noFill/>
          <a:ln/>
        </p:spPr>
        <p:txBody>
          <a:bodyPr wrap="square" lIns="25400" tIns="25400" rIns="25400" bIns="25400" rtlCol="0" anchor="t">
            <a:normAutofit/>
          </a:bodyPr>
          <a:lstStyle/>
          <a:p>
            <a:pPr marL="0" indent="0" algn="l">
              <a:lnSpc>
                <a:spcPct val="95000"/>
              </a:lnSpc>
              <a:buNone/>
            </a:pPr>
            <a:r>
              <a:rPr lang="en-US" sz="8100" b="1" kern="0" spc="-203" dirty="0">
                <a:solidFill>
                  <a:srgbClr val="141414"/>
                </a:solidFill>
                <a:latin typeface="Catamaran" pitchFamily="34" charset="0"/>
                <a:ea typeface="-apple-system" pitchFamily="34" charset="-122"/>
                <a:cs typeface="-apple-system" pitchFamily="34" charset="-120"/>
              </a:rPr>
              <a:t>Some of you know me as </a:t>
            </a:r>
            <a:r>
              <a:rPr lang="en-US" sz="8100" b="1" kern="0" spc="-203" dirty="0">
                <a:solidFill>
                  <a:srgbClr val="008EAA"/>
                </a:solidFill>
                <a:latin typeface="Catamaran" pitchFamily="34" charset="0"/>
                <a:ea typeface="-apple-system" pitchFamily="34" charset="-122"/>
                <a:cs typeface="-apple-system" pitchFamily="34" charset="-120"/>
              </a:rPr>
              <a:t>Roxanne from Meet in Kamloops </a:t>
            </a:r>
            <a:r>
              <a:rPr lang="en-US" sz="8100" b="1" kern="0" spc="-203" dirty="0">
                <a:solidFill>
                  <a:srgbClr val="141414"/>
                </a:solidFill>
                <a:latin typeface="Catamaran" pitchFamily="34" charset="0"/>
                <a:ea typeface="-apple-system" pitchFamily="34" charset="-122"/>
                <a:cs typeface="-apple-system" pitchFamily="34" charset="-120"/>
              </a:rPr>
              <a:t>.</a:t>
            </a:r>
            <a:endParaRPr lang="en-US" sz="8100" dirty="0"/>
          </a:p>
        </p:txBody>
      </p:sp>
      <p:sp>
        <p:nvSpPr>
          <p:cNvPr id="4" name="Text 2"/>
          <p:cNvSpPr/>
          <p:nvPr/>
        </p:nvSpPr>
        <p:spPr>
          <a:xfrm>
            <a:off x="952500" y="7095827"/>
            <a:ext cx="7456170" cy="1529581"/>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700" b="1" dirty="0">
                <a:solidFill>
                  <a:srgbClr val="141414"/>
                </a:solidFill>
                <a:latin typeface="Avenir" pitchFamily="34" charset="0"/>
                <a:ea typeface="-apple-system" pitchFamily="34" charset="-122"/>
                <a:cs typeface="-apple-system" pitchFamily="34" charset="-120"/>
              </a:rPr>
              <a:t>What you might not know: Meet in Kamloops is run by my team at Boom Business Solutions my comms + PR firm.</a:t>
            </a:r>
            <a:endParaRPr lang="en-US" sz="2700" dirty="0"/>
          </a:p>
        </p:txBody>
      </p:sp>
      <p:sp>
        <p:nvSpPr>
          <p:cNvPr id="5" name="Text 3"/>
          <p:cNvSpPr/>
          <p:nvPr/>
        </p:nvSpPr>
        <p:spPr>
          <a:xfrm>
            <a:off x="952500" y="8854008"/>
            <a:ext cx="7456170" cy="866775"/>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sz="2250" b="1">
                <a:solidFill>
                  <a:srgbClr val="2A2A2A"/>
                </a:solidFill>
                <a:latin typeface="Avenir" pitchFamily="34" charset="0"/>
                <a:ea typeface="-apple-system" pitchFamily="34" charset="-122"/>
                <a:cs typeface="-apple-system" pitchFamily="34" charset="-120"/>
              </a:rPr>
              <a:t>Having a team is what gave me space to actually sit with AI, play with it, and break it.</a:t>
            </a:r>
            <a:endParaRPr lang="en-US" sz="2250" dirty="0"/>
          </a:p>
        </p:txBody>
      </p:sp>
      <p:pic>
        <p:nvPicPr>
          <p:cNvPr id="6" name="Image 0" descr="preencoded.png"/>
          <p:cNvPicPr>
            <a:picLocks noChangeAspect="1"/>
          </p:cNvPicPr>
          <p:nvPr/>
        </p:nvPicPr>
        <p:blipFill>
          <a:blip r:embed="rId3"/>
          <a:srcRect t="5294" b="5294"/>
          <a:stretch/>
        </p:blipFill>
        <p:spPr>
          <a:xfrm>
            <a:off x="9367019" y="0"/>
            <a:ext cx="8628918" cy="10287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952500" y="952500"/>
            <a:ext cx="16874490" cy="419100"/>
          </a:xfrm>
          <a:prstGeom prst="rect">
            <a:avLst/>
          </a:prstGeom>
          <a:noFill/>
          <a:ln/>
        </p:spPr>
        <p:txBody>
          <a:bodyPr wrap="square" lIns="25400" tIns="25400" rIns="25400" bIns="25400" rtlCol="0" anchor="t">
            <a:normAutofit lnSpcReduction="10000"/>
          </a:bodyPr>
          <a:lstStyle/>
          <a:p>
            <a:pPr marL="0" indent="0" algn="l">
              <a:buNone/>
            </a:pPr>
            <a:r>
              <a:rPr lang="en-US" sz="2550" b="1" kern="0" spc="561">
                <a:solidFill>
                  <a:srgbClr val="008EAA"/>
                </a:solidFill>
                <a:latin typeface="Avenir" pitchFamily="34" charset="0"/>
                <a:ea typeface="-apple-system" pitchFamily="34" charset="-122"/>
                <a:cs typeface="-apple-system" pitchFamily="34" charset="-120"/>
              </a:rPr>
              <a:t>WHAT AI TALKS USUALLY FEEL LIKE</a:t>
            </a:r>
            <a:endParaRPr lang="en-US" sz="2550" dirty="0"/>
          </a:p>
        </p:txBody>
      </p:sp>
      <p:sp>
        <p:nvSpPr>
          <p:cNvPr id="3" name="Text 1"/>
          <p:cNvSpPr/>
          <p:nvPr/>
        </p:nvSpPr>
        <p:spPr>
          <a:xfrm>
            <a:off x="952500" y="1714500"/>
            <a:ext cx="14716125" cy="1606153"/>
          </a:xfrm>
          <a:prstGeom prst="rect">
            <a:avLst/>
          </a:prstGeom>
          <a:noFill/>
          <a:ln/>
        </p:spPr>
        <p:txBody>
          <a:bodyPr wrap="square" lIns="25400" tIns="25400" rIns="25400" bIns="25400" rtlCol="0" anchor="t">
            <a:normAutofit fontScale="92500" lnSpcReduction="20000"/>
          </a:bodyPr>
          <a:lstStyle/>
          <a:p>
            <a:pPr marL="0" indent="0" algn="l">
              <a:lnSpc>
                <a:spcPct val="98000"/>
              </a:lnSpc>
              <a:buNone/>
            </a:pPr>
            <a:r>
              <a:rPr lang="en-US" sz="6300" b="1" kern="0" spc="-158">
                <a:solidFill>
                  <a:srgbClr val="141414"/>
                </a:solidFill>
                <a:latin typeface="Catamaran" pitchFamily="34" charset="0"/>
                <a:ea typeface="-apple-system" pitchFamily="34" charset="-122"/>
                <a:cs typeface="-apple-system" pitchFamily="34" charset="-120"/>
              </a:rPr>
              <a:t>You've sat through these. </a:t>
            </a:r>
            <a:r>
              <a:rPr lang="en-US" sz="6300" b="1" kern="0" spc="-158">
                <a:solidFill>
                  <a:srgbClr val="141414">
                    <a:alpha val="55000"/>
                  </a:srgbClr>
                </a:solidFill>
                <a:latin typeface="Catamaran" pitchFamily="34" charset="0"/>
                <a:ea typeface="-apple-system" pitchFamily="34" charset="-122"/>
                <a:cs typeface="-apple-system" pitchFamily="34" charset="-120"/>
              </a:rPr>
              <a:t>None of them made you feel capable.</a:t>
            </a:r>
            <a:endParaRPr lang="en-US" sz="6300" dirty="0"/>
          </a:p>
        </p:txBody>
      </p:sp>
      <p:sp>
        <p:nvSpPr>
          <p:cNvPr id="4" name="Text 2"/>
          <p:cNvSpPr/>
          <p:nvPr/>
        </p:nvSpPr>
        <p:spPr>
          <a:xfrm>
            <a:off x="952500" y="4235053"/>
            <a:ext cx="396255" cy="390525"/>
          </a:xfrm>
          <a:prstGeom prst="rect">
            <a:avLst/>
          </a:prstGeom>
          <a:noFill/>
          <a:ln/>
        </p:spPr>
        <p:txBody>
          <a:bodyPr wrap="square" lIns="25400" tIns="25400" rIns="25400" bIns="25400" rtlCol="0" anchor="t">
            <a:normAutofit/>
          </a:bodyPr>
          <a:lstStyle/>
          <a:p>
            <a:pPr marL="0" indent="0" algn="l">
              <a:buNone/>
            </a:pPr>
            <a:r>
              <a:rPr lang="en-US" sz="2100" b="1">
                <a:solidFill>
                  <a:srgbClr val="008EAA"/>
                </a:solidFill>
                <a:latin typeface="Avenir" pitchFamily="34" charset="0"/>
                <a:ea typeface="JetBrains Mono" pitchFamily="34" charset="-122"/>
                <a:cs typeface="JetBrains Mono" pitchFamily="34" charset="-120"/>
              </a:rPr>
              <a:t>01</a:t>
            </a:r>
            <a:endParaRPr lang="en-US" sz="2100" dirty="0"/>
          </a:p>
        </p:txBody>
      </p:sp>
      <p:sp>
        <p:nvSpPr>
          <p:cNvPr id="5" name="Text 3"/>
          <p:cNvSpPr/>
          <p:nvPr/>
        </p:nvSpPr>
        <p:spPr>
          <a:xfrm>
            <a:off x="1539255" y="4139803"/>
            <a:ext cx="7440457" cy="108585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3300" b="1">
                <a:solidFill>
                  <a:srgbClr val="141414"/>
                </a:solidFill>
                <a:latin typeface="Avenir" pitchFamily="34" charset="0"/>
                <a:ea typeface="-apple-system" pitchFamily="34" charset="-122"/>
                <a:cs typeface="-apple-system" pitchFamily="34" charset="-120"/>
              </a:rPr>
              <a:t>Long, convoluted workflows </a:t>
            </a:r>
            <a:r>
              <a:rPr lang="en-US" sz="3300" b="1">
                <a:solidFill>
                  <a:srgbClr val="141414">
                    <a:alpha val="55000"/>
                  </a:srgbClr>
                </a:solidFill>
                <a:latin typeface="Avenir" pitchFamily="34" charset="0"/>
                <a:ea typeface="-apple-system" pitchFamily="34" charset="-122"/>
                <a:cs typeface="-apple-system" pitchFamily="34" charset="-120"/>
              </a:rPr>
              <a:t>with no entry point.</a:t>
            </a:r>
            <a:endParaRPr lang="en-US" sz="3300" dirty="0"/>
          </a:p>
        </p:txBody>
      </p:sp>
      <p:sp>
        <p:nvSpPr>
          <p:cNvPr id="6" name="Text 4"/>
          <p:cNvSpPr/>
          <p:nvPr/>
        </p:nvSpPr>
        <p:spPr>
          <a:xfrm>
            <a:off x="9525000" y="4235053"/>
            <a:ext cx="396255" cy="390525"/>
          </a:xfrm>
          <a:prstGeom prst="rect">
            <a:avLst/>
          </a:prstGeom>
          <a:noFill/>
          <a:ln/>
        </p:spPr>
        <p:txBody>
          <a:bodyPr wrap="square" lIns="25400" tIns="25400" rIns="25400" bIns="25400" rtlCol="0" anchor="t">
            <a:normAutofit/>
          </a:bodyPr>
          <a:lstStyle/>
          <a:p>
            <a:pPr marL="0" indent="0" algn="l">
              <a:buNone/>
            </a:pPr>
            <a:r>
              <a:rPr lang="en-US" sz="2100" b="1">
                <a:solidFill>
                  <a:srgbClr val="008EAA"/>
                </a:solidFill>
                <a:latin typeface="Avenir" pitchFamily="34" charset="0"/>
                <a:ea typeface="JetBrains Mono" pitchFamily="34" charset="-122"/>
                <a:cs typeface="JetBrains Mono" pitchFamily="34" charset="-120"/>
              </a:rPr>
              <a:t>02</a:t>
            </a:r>
            <a:endParaRPr lang="en-US" sz="2100" dirty="0"/>
          </a:p>
        </p:txBody>
      </p:sp>
      <p:sp>
        <p:nvSpPr>
          <p:cNvPr id="7" name="Text 5"/>
          <p:cNvSpPr/>
          <p:nvPr/>
        </p:nvSpPr>
        <p:spPr>
          <a:xfrm>
            <a:off x="10111755" y="4139803"/>
            <a:ext cx="7440457" cy="108585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3300" b="1">
                <a:solidFill>
                  <a:srgbClr val="141414"/>
                </a:solidFill>
                <a:latin typeface="Avenir" pitchFamily="34" charset="0"/>
                <a:ea typeface="-apple-system" pitchFamily="34" charset="-122"/>
                <a:cs typeface="-apple-system" pitchFamily="34" charset="-120"/>
              </a:rPr>
              <a:t>25 rapid-fire steps, </a:t>
            </a:r>
            <a:r>
              <a:rPr lang="en-US" sz="3300" b="1">
                <a:solidFill>
                  <a:srgbClr val="141414">
                    <a:alpha val="55000"/>
                  </a:srgbClr>
                </a:solidFill>
                <a:latin typeface="Avenir" pitchFamily="34" charset="0"/>
                <a:ea typeface="-apple-system" pitchFamily="34" charset="-122"/>
                <a:cs typeface="-apple-system" pitchFamily="34" charset="-120"/>
              </a:rPr>
              <a:t>thrown at you like a firehose.</a:t>
            </a:r>
            <a:endParaRPr lang="en-US" sz="3300" dirty="0"/>
          </a:p>
        </p:txBody>
      </p:sp>
      <p:sp>
        <p:nvSpPr>
          <p:cNvPr id="8" name="Text 6"/>
          <p:cNvSpPr/>
          <p:nvPr/>
        </p:nvSpPr>
        <p:spPr>
          <a:xfrm>
            <a:off x="952500" y="6368058"/>
            <a:ext cx="396255" cy="390525"/>
          </a:xfrm>
          <a:prstGeom prst="rect">
            <a:avLst/>
          </a:prstGeom>
          <a:noFill/>
          <a:ln/>
        </p:spPr>
        <p:txBody>
          <a:bodyPr wrap="square" lIns="25400" tIns="25400" rIns="25400" bIns="25400" rtlCol="0" anchor="t">
            <a:normAutofit/>
          </a:bodyPr>
          <a:lstStyle/>
          <a:p>
            <a:pPr marL="0" indent="0" algn="l">
              <a:buNone/>
            </a:pPr>
            <a:r>
              <a:rPr lang="en-US" sz="2100" b="1">
                <a:solidFill>
                  <a:srgbClr val="008EAA"/>
                </a:solidFill>
                <a:latin typeface="Avenir" pitchFamily="34" charset="0"/>
                <a:ea typeface="JetBrains Mono" pitchFamily="34" charset="-122"/>
                <a:cs typeface="JetBrains Mono" pitchFamily="34" charset="-120"/>
              </a:rPr>
              <a:t>03</a:t>
            </a:r>
            <a:endParaRPr lang="en-US" sz="2100" dirty="0"/>
          </a:p>
        </p:txBody>
      </p:sp>
      <p:sp>
        <p:nvSpPr>
          <p:cNvPr id="9" name="Text 7"/>
          <p:cNvSpPr/>
          <p:nvPr/>
        </p:nvSpPr>
        <p:spPr>
          <a:xfrm>
            <a:off x="1539255" y="6272808"/>
            <a:ext cx="7030169" cy="561975"/>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3300" b="1">
                <a:solidFill>
                  <a:srgbClr val="141414"/>
                </a:solidFill>
                <a:latin typeface="Avenir" pitchFamily="34" charset="0"/>
                <a:ea typeface="-apple-system" pitchFamily="34" charset="-122"/>
                <a:cs typeface="-apple-system" pitchFamily="34" charset="-120"/>
              </a:rPr>
              <a:t>The slide with seventeen tools on it.</a:t>
            </a:r>
            <a:endParaRPr lang="en-US" sz="3300" dirty="0"/>
          </a:p>
        </p:txBody>
      </p:sp>
      <p:sp>
        <p:nvSpPr>
          <p:cNvPr id="10" name="Text 8"/>
          <p:cNvSpPr/>
          <p:nvPr/>
        </p:nvSpPr>
        <p:spPr>
          <a:xfrm>
            <a:off x="9525000" y="6368058"/>
            <a:ext cx="396255" cy="390525"/>
          </a:xfrm>
          <a:prstGeom prst="rect">
            <a:avLst/>
          </a:prstGeom>
          <a:noFill/>
          <a:ln/>
        </p:spPr>
        <p:txBody>
          <a:bodyPr wrap="square" lIns="25400" tIns="25400" rIns="25400" bIns="25400" rtlCol="0" anchor="t">
            <a:normAutofit/>
          </a:bodyPr>
          <a:lstStyle/>
          <a:p>
            <a:pPr marL="0" indent="0" algn="l">
              <a:buNone/>
            </a:pPr>
            <a:r>
              <a:rPr lang="en-US" sz="2100" b="1">
                <a:solidFill>
                  <a:srgbClr val="008EAA"/>
                </a:solidFill>
                <a:latin typeface="Avenir" pitchFamily="34" charset="0"/>
                <a:ea typeface="JetBrains Mono" pitchFamily="34" charset="-122"/>
                <a:cs typeface="JetBrains Mono" pitchFamily="34" charset="-120"/>
              </a:rPr>
              <a:t>04</a:t>
            </a:r>
            <a:endParaRPr lang="en-US" sz="2100" dirty="0"/>
          </a:p>
        </p:txBody>
      </p:sp>
      <p:sp>
        <p:nvSpPr>
          <p:cNvPr id="11" name="Text 9"/>
          <p:cNvSpPr/>
          <p:nvPr/>
        </p:nvSpPr>
        <p:spPr>
          <a:xfrm>
            <a:off x="10111755" y="6272808"/>
            <a:ext cx="7440457" cy="1609725"/>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3300" b="1">
                <a:solidFill>
                  <a:srgbClr val="141414"/>
                </a:solidFill>
                <a:latin typeface="Avenir" pitchFamily="34" charset="0"/>
                <a:ea typeface="-apple-system" pitchFamily="34" charset="-122"/>
                <a:cs typeface="-apple-system" pitchFamily="34" charset="-120"/>
              </a:rPr>
              <a:t>The 45-minute product pitch </a:t>
            </a:r>
            <a:r>
              <a:rPr lang="en-US" sz="3300" b="1">
                <a:solidFill>
                  <a:srgbClr val="141414">
                    <a:alpha val="55000"/>
                  </a:srgbClr>
                </a:solidFill>
                <a:latin typeface="Avenir" pitchFamily="34" charset="0"/>
                <a:ea typeface="-apple-system" pitchFamily="34" charset="-122"/>
                <a:cs typeface="-apple-system" pitchFamily="34" charset="-120"/>
              </a:rPr>
              <a:t>that ends with you somehow responsible for implementation.</a:t>
            </a:r>
            <a:endParaRPr lang="en-US" sz="3300" dirty="0"/>
          </a:p>
        </p:txBody>
      </p:sp>
      <p:sp>
        <p:nvSpPr>
          <p:cNvPr id="12" name="Text 10"/>
          <p:cNvSpPr/>
          <p:nvPr/>
        </p:nvSpPr>
        <p:spPr>
          <a:xfrm>
            <a:off x="952500" y="8929688"/>
            <a:ext cx="16874490" cy="442913"/>
          </a:xfrm>
          <a:prstGeom prst="rect">
            <a:avLst/>
          </a:prstGeom>
          <a:noFill/>
          <a:ln/>
        </p:spPr>
        <p:txBody>
          <a:bodyPr wrap="square" lIns="25400" tIns="25400" rIns="25400" bIns="25400" rtlCol="0" anchor="t">
            <a:normAutofit lnSpcReduction="10000"/>
          </a:bodyPr>
          <a:lstStyle/>
          <a:p>
            <a:pPr marL="0" indent="0" algn="l">
              <a:buNone/>
            </a:pPr>
            <a:r>
              <a:rPr lang="en-US" sz="2700" b="1">
                <a:solidFill>
                  <a:srgbClr val="141414"/>
                </a:solidFill>
                <a:latin typeface="Avenir" pitchFamily="34" charset="0"/>
                <a:ea typeface="-apple-system" pitchFamily="34" charset="-122"/>
                <a:cs typeface="-apple-system" pitchFamily="34" charset="-120"/>
              </a:rPr>
              <a:t>If any of that hits home — </a:t>
            </a:r>
            <a:r>
              <a:rPr lang="en-US" sz="2700" b="1">
                <a:solidFill>
                  <a:srgbClr val="008EAA"/>
                </a:solidFill>
                <a:latin typeface="Avenir" pitchFamily="34" charset="0"/>
                <a:ea typeface="-apple-system" pitchFamily="34" charset="-122"/>
                <a:cs typeface="-apple-system" pitchFamily="34" charset="-120"/>
              </a:rPr>
              <a:t>you're not behind.</a:t>
            </a:r>
            <a:endParaRPr lang="en-US" sz="2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952500" y="1767855"/>
            <a:ext cx="4441664"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96">
                <a:solidFill>
                  <a:srgbClr val="008EAA"/>
                </a:solidFill>
                <a:latin typeface="Avenir" pitchFamily="34" charset="0"/>
                <a:ea typeface="-apple-system" pitchFamily="34" charset="-122"/>
                <a:cs typeface="-apple-system" pitchFamily="34" charset="-120"/>
              </a:rPr>
              <a:t>THE ONLY TAKEAWAY TODAY</a:t>
            </a:r>
            <a:endParaRPr lang="en-US" sz="1800" dirty="0"/>
          </a:p>
        </p:txBody>
      </p:sp>
      <p:sp>
        <p:nvSpPr>
          <p:cNvPr id="3" name="Text 1"/>
          <p:cNvSpPr/>
          <p:nvPr/>
        </p:nvSpPr>
        <p:spPr>
          <a:xfrm>
            <a:off x="952500" y="2491755"/>
            <a:ext cx="6916502" cy="4731990"/>
          </a:xfrm>
          <a:prstGeom prst="rect">
            <a:avLst/>
          </a:prstGeom>
          <a:noFill/>
          <a:ln/>
        </p:spPr>
        <p:txBody>
          <a:bodyPr wrap="square" lIns="25400" tIns="25400" rIns="25400" bIns="25400" rtlCol="0" anchor="t">
            <a:normAutofit fontScale="92500" lnSpcReduction="20000"/>
          </a:bodyPr>
          <a:lstStyle/>
          <a:p>
            <a:pPr marL="0" indent="0" algn="l">
              <a:lnSpc>
                <a:spcPct val="88000"/>
              </a:lnSpc>
              <a:buNone/>
            </a:pPr>
            <a:r>
              <a:rPr lang="en-US" sz="21000" b="1" kern="0" spc="-840">
                <a:solidFill>
                  <a:srgbClr val="141414"/>
                </a:solidFill>
                <a:latin typeface="Catamaran" pitchFamily="34" charset="0"/>
                <a:ea typeface="-apple-system" pitchFamily="34" charset="-122"/>
                <a:cs typeface="-apple-system" pitchFamily="34" charset="-120"/>
              </a:rPr>
              <a:t>One thing.</a:t>
            </a:r>
            <a:endParaRPr lang="en-US" sz="21000" dirty="0"/>
          </a:p>
        </p:txBody>
      </p:sp>
      <p:sp>
        <p:nvSpPr>
          <p:cNvPr id="4" name="Shape 2"/>
          <p:cNvSpPr/>
          <p:nvPr/>
        </p:nvSpPr>
        <p:spPr>
          <a:xfrm>
            <a:off x="952500" y="7871445"/>
            <a:ext cx="457200" cy="647700"/>
          </a:xfrm>
          <a:prstGeom prst="rect">
            <a:avLst/>
          </a:prstGeom>
          <a:solidFill>
            <a:srgbClr val="008EAA"/>
          </a:solidFill>
          <a:ln/>
        </p:spPr>
        <p:txBody>
          <a:bodyPr/>
          <a:lstStyle/>
          <a:p>
            <a:endParaRPr lang="en-US"/>
          </a:p>
        </p:txBody>
      </p:sp>
      <p:sp>
        <p:nvSpPr>
          <p:cNvPr id="5" name="Text 3"/>
          <p:cNvSpPr/>
          <p:nvPr/>
        </p:nvSpPr>
        <p:spPr>
          <a:xfrm>
            <a:off x="1714500" y="7971458"/>
            <a:ext cx="5188584" cy="485775"/>
          </a:xfrm>
          <a:prstGeom prst="rect">
            <a:avLst/>
          </a:prstGeom>
          <a:noFill/>
          <a:ln/>
        </p:spPr>
        <p:txBody>
          <a:bodyPr wrap="square" lIns="25400" tIns="25400" rIns="25400" bIns="25400" rtlCol="0" anchor="t">
            <a:normAutofit fontScale="92500"/>
          </a:bodyPr>
          <a:lstStyle/>
          <a:p>
            <a:pPr marL="0" indent="0" algn="l">
              <a:buNone/>
            </a:pPr>
            <a:r>
              <a:rPr lang="en-US" sz="3000" b="1">
                <a:solidFill>
                  <a:srgbClr val="2A2A2A"/>
                </a:solidFill>
                <a:latin typeface="Avenir" pitchFamily="34" charset="0"/>
                <a:ea typeface="-apple-system" pitchFamily="34" charset="-122"/>
                <a:cs typeface="-apple-system" pitchFamily="34" charset="-120"/>
              </a:rPr>
              <a:t>That's it. That's the whole talk.</a:t>
            </a:r>
            <a:endParaRPr 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8EAA"/>
        </a:solidFill>
        <a:effectLst/>
      </p:bgPr>
    </p:bg>
    <p:spTree>
      <p:nvGrpSpPr>
        <p:cNvPr id="1" name=""/>
        <p:cNvGrpSpPr/>
        <p:nvPr/>
      </p:nvGrpSpPr>
      <p:grpSpPr>
        <a:xfrm>
          <a:off x="0" y="0"/>
          <a:ext cx="0" cy="0"/>
          <a:chOff x="0" y="0"/>
          <a:chExt cx="0" cy="0"/>
        </a:xfrm>
      </p:grpSpPr>
      <p:sp>
        <p:nvSpPr>
          <p:cNvPr id="2" name="Text 0"/>
          <p:cNvSpPr/>
          <p:nvPr/>
        </p:nvSpPr>
        <p:spPr>
          <a:xfrm>
            <a:off x="952500" y="1900386"/>
            <a:ext cx="16874490" cy="328613"/>
          </a:xfrm>
          <a:prstGeom prst="rect">
            <a:avLst/>
          </a:prstGeom>
          <a:noFill/>
          <a:ln/>
        </p:spPr>
        <p:txBody>
          <a:bodyPr wrap="square" lIns="25400" tIns="25400" rIns="25400" bIns="25400" rtlCol="0" anchor="t">
            <a:normAutofit lnSpcReduction="10000"/>
          </a:bodyPr>
          <a:lstStyle/>
          <a:p>
            <a:pPr marL="0" indent="0" algn="l">
              <a:buNone/>
            </a:pPr>
            <a:r>
              <a:rPr lang="en-US" sz="1950" b="1" kern="0" spc="429">
                <a:solidFill>
                  <a:srgbClr val="FFFFFF">
                    <a:alpha val="85000"/>
                  </a:srgbClr>
                </a:solidFill>
                <a:latin typeface="Avenir" pitchFamily="34" charset="0"/>
                <a:ea typeface="-apple-system" pitchFamily="34" charset="-122"/>
                <a:cs typeface="-apple-system" pitchFamily="34" charset="-120"/>
              </a:rPr>
              <a:t>THE REFRAME</a:t>
            </a:r>
            <a:endParaRPr lang="en-US" sz="1950" dirty="0"/>
          </a:p>
        </p:txBody>
      </p:sp>
      <p:sp>
        <p:nvSpPr>
          <p:cNvPr id="3" name="Text 1"/>
          <p:cNvSpPr/>
          <p:nvPr/>
        </p:nvSpPr>
        <p:spPr>
          <a:xfrm>
            <a:off x="952500" y="2571899"/>
            <a:ext cx="16678275" cy="3928765"/>
          </a:xfrm>
          <a:prstGeom prst="rect">
            <a:avLst/>
          </a:prstGeom>
          <a:noFill/>
          <a:ln/>
        </p:spPr>
        <p:txBody>
          <a:bodyPr wrap="square" lIns="25400" tIns="25400" rIns="25400" bIns="25400" rtlCol="0" anchor="t">
            <a:normAutofit/>
          </a:bodyPr>
          <a:lstStyle/>
          <a:p>
            <a:pPr marL="0" indent="0" algn="l">
              <a:lnSpc>
                <a:spcPct val="92000"/>
              </a:lnSpc>
              <a:buNone/>
            </a:pPr>
            <a:r>
              <a:rPr lang="en-US" sz="11100" b="1" kern="0" spc="-333" dirty="0">
                <a:solidFill>
                  <a:srgbClr val="FFFFFF"/>
                </a:solidFill>
                <a:latin typeface="Catamaran" pitchFamily="34" charset="0"/>
                <a:ea typeface="-apple-system" pitchFamily="34" charset="-122"/>
                <a:cs typeface="-apple-system" pitchFamily="34" charset="-120"/>
              </a:rPr>
              <a:t>You don't need to use AI </a:t>
            </a:r>
            <a:r>
              <a:rPr lang="en-US" sz="11100" b="1" u="sng" kern="0" spc="-333" dirty="0">
                <a:solidFill>
                  <a:srgbClr val="FFFFFF"/>
                </a:solidFill>
                <a:latin typeface="Catamaran" pitchFamily="34" charset="0"/>
                <a:ea typeface="-apple-system" pitchFamily="34" charset="-122"/>
                <a:cs typeface="-apple-system" pitchFamily="34" charset="-120"/>
              </a:rPr>
              <a:t>perfectly </a:t>
            </a:r>
            <a:r>
              <a:rPr lang="en-US" sz="11100" b="1" kern="0" spc="-333" dirty="0">
                <a:solidFill>
                  <a:srgbClr val="FFFFFF"/>
                </a:solidFill>
                <a:latin typeface="Catamaran" pitchFamily="34" charset="0"/>
                <a:ea typeface="-apple-system" pitchFamily="34" charset="-122"/>
                <a:cs typeface="-apple-system" pitchFamily="34" charset="-120"/>
              </a:rPr>
              <a:t>to get value from it.</a:t>
            </a:r>
            <a:endParaRPr lang="en-US" sz="11100" dirty="0"/>
          </a:p>
        </p:txBody>
      </p:sp>
      <p:sp>
        <p:nvSpPr>
          <p:cNvPr id="4" name="Text 2"/>
          <p:cNvSpPr/>
          <p:nvPr/>
        </p:nvSpPr>
        <p:spPr>
          <a:xfrm>
            <a:off x="952500" y="7148364"/>
            <a:ext cx="14716125" cy="1276350"/>
          </a:xfrm>
          <a:prstGeom prst="rect">
            <a:avLst/>
          </a:prstGeom>
          <a:noFill/>
          <a:ln/>
        </p:spPr>
        <p:txBody>
          <a:bodyPr wrap="square" lIns="25400" tIns="25400" rIns="25400" bIns="25400" rtlCol="0" anchor="t">
            <a:normAutofit/>
          </a:bodyPr>
          <a:lstStyle/>
          <a:p>
            <a:pPr marL="0" indent="0" algn="l">
              <a:lnSpc>
                <a:spcPct val="125000"/>
              </a:lnSpc>
              <a:buNone/>
            </a:pPr>
            <a:r>
              <a:rPr lang="en-US" sz="4500" b="1" dirty="0">
                <a:solidFill>
                  <a:srgbClr val="FFFFFF">
                    <a:alpha val="95000"/>
                  </a:srgbClr>
                </a:solidFill>
                <a:latin typeface="Avenir" pitchFamily="34" charset="0"/>
                <a:ea typeface="-apple-system" pitchFamily="34" charset="-122"/>
                <a:cs typeface="-apple-system" pitchFamily="34" charset="-120"/>
              </a:rPr>
              <a:t>You just need to talk to it.</a:t>
            </a:r>
            <a:endParaRPr lang="en-US" sz="45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952500" y="2218432"/>
            <a:ext cx="7007635"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96">
                <a:solidFill>
                  <a:srgbClr val="008EAA"/>
                </a:solidFill>
                <a:latin typeface="Avenir" pitchFamily="34" charset="0"/>
                <a:ea typeface="-apple-system" pitchFamily="34" charset="-122"/>
                <a:cs typeface="-apple-system" pitchFamily="34" charset="-120"/>
              </a:rPr>
              <a:t>A SCENARIO</a:t>
            </a:r>
            <a:endParaRPr lang="en-US" sz="1800" dirty="0"/>
          </a:p>
        </p:txBody>
      </p:sp>
      <p:sp>
        <p:nvSpPr>
          <p:cNvPr id="3" name="Text 1"/>
          <p:cNvSpPr/>
          <p:nvPr/>
        </p:nvSpPr>
        <p:spPr>
          <a:xfrm>
            <a:off x="952500" y="2866132"/>
            <a:ext cx="7007635" cy="4244280"/>
          </a:xfrm>
          <a:prstGeom prst="rect">
            <a:avLst/>
          </a:prstGeom>
          <a:noFill/>
          <a:ln/>
        </p:spPr>
        <p:txBody>
          <a:bodyPr wrap="square" lIns="25400" tIns="25400" rIns="25400" bIns="25400" rtlCol="0" anchor="t">
            <a:normAutofit/>
          </a:bodyPr>
          <a:lstStyle/>
          <a:p>
            <a:pPr marL="0" indent="0" algn="l">
              <a:lnSpc>
                <a:spcPct val="92000"/>
              </a:lnSpc>
              <a:buNone/>
            </a:pPr>
            <a:r>
              <a:rPr lang="en-US" sz="9000" b="1" kern="0" spc="-270">
                <a:solidFill>
                  <a:srgbClr val="141414"/>
                </a:solidFill>
                <a:latin typeface="Catamaran" pitchFamily="34" charset="0"/>
                <a:ea typeface="-apple-system" pitchFamily="34" charset="-122"/>
                <a:cs typeface="-apple-system" pitchFamily="34" charset="-120"/>
              </a:rPr>
              <a:t>Most people in this room </a:t>
            </a:r>
            <a:r>
              <a:rPr lang="en-US" sz="9000" b="1" kern="0" spc="-270">
                <a:solidFill>
                  <a:srgbClr val="008EAA"/>
                </a:solidFill>
                <a:latin typeface="Catamaran" pitchFamily="34" charset="0"/>
                <a:ea typeface="-apple-system" pitchFamily="34" charset="-122"/>
                <a:cs typeface="-apple-system" pitchFamily="34" charset="-120"/>
              </a:rPr>
              <a:t>have lived this.</a:t>
            </a:r>
            <a:endParaRPr lang="en-US" sz="9000" dirty="0"/>
          </a:p>
        </p:txBody>
      </p:sp>
      <p:sp>
        <p:nvSpPr>
          <p:cNvPr id="4" name="Text 2"/>
          <p:cNvSpPr/>
          <p:nvPr/>
        </p:nvSpPr>
        <p:spPr>
          <a:xfrm>
            <a:off x="952500" y="7110412"/>
            <a:ext cx="6867525" cy="2681287"/>
          </a:xfrm>
          <a:prstGeom prst="rect">
            <a:avLst/>
          </a:prstGeom>
          <a:noFill/>
          <a:ln/>
        </p:spPr>
        <p:txBody>
          <a:bodyPr wrap="square" lIns="25400" tIns="25400" rIns="25400" bIns="25400" rtlCol="0" anchor="t">
            <a:noAutofit/>
          </a:bodyPr>
          <a:lstStyle/>
          <a:p>
            <a:pPr marL="0" indent="0" algn="l">
              <a:lnSpc>
                <a:spcPct val="135000"/>
              </a:lnSpc>
              <a:buNone/>
            </a:pPr>
            <a:r>
              <a:rPr lang="en-US" sz="6500" b="1" dirty="0">
                <a:solidFill>
                  <a:srgbClr val="2A2A2A"/>
                </a:solidFill>
                <a:latin typeface="Avenir" pitchFamily="34" charset="0"/>
                <a:ea typeface="-apple-system" pitchFamily="34" charset="-122"/>
                <a:cs typeface="-apple-system" pitchFamily="34" charset="-120"/>
              </a:rPr>
              <a:t>You just got back from a fam…</a:t>
            </a:r>
            <a:endParaRPr lang="en-US" sz="6500" dirty="0"/>
          </a:p>
        </p:txBody>
      </p:sp>
      <p:pic>
        <p:nvPicPr>
          <p:cNvPr id="5" name="Image 0" descr="preencoded.png"/>
          <p:cNvPicPr>
            <a:picLocks noChangeAspect="1"/>
          </p:cNvPicPr>
          <p:nvPr/>
        </p:nvPicPr>
        <p:blipFill>
          <a:blip r:embed="rId3"/>
          <a:srcRect l="15080" r="15080"/>
          <a:stretch/>
        </p:blipFill>
        <p:spPr>
          <a:xfrm>
            <a:off x="8708529" y="0"/>
            <a:ext cx="9579471" cy="10287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952500" y="611796"/>
            <a:ext cx="9600000"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96" dirty="0">
                <a:solidFill>
                  <a:srgbClr val="008EAA"/>
                </a:solidFill>
                <a:latin typeface="Avenir" pitchFamily="34" charset="0"/>
                <a:ea typeface="-apple-system" pitchFamily="34" charset="-122"/>
                <a:cs typeface="-apple-system" pitchFamily="34" charset="-120"/>
              </a:rPr>
              <a:t>WHAT YOU HAVE TO WORK WITH</a:t>
            </a:r>
            <a:endParaRPr lang="en-US" sz="1800" dirty="0"/>
          </a:p>
        </p:txBody>
      </p:sp>
      <p:sp>
        <p:nvSpPr>
          <p:cNvPr id="3" name="Text 1"/>
          <p:cNvSpPr/>
          <p:nvPr/>
        </p:nvSpPr>
        <p:spPr>
          <a:xfrm>
            <a:off x="952500" y="1001302"/>
            <a:ext cx="9600000" cy="1006995"/>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6300" b="1" kern="0" spc="-126" dirty="0">
                <a:solidFill>
                  <a:srgbClr val="141414"/>
                </a:solidFill>
                <a:latin typeface="Catamaran" pitchFamily="34" charset="0"/>
                <a:ea typeface="-apple-system" pitchFamily="34" charset="-122"/>
                <a:cs typeface="-apple-system" pitchFamily="34" charset="-120"/>
              </a:rPr>
              <a:t>Your notes are </a:t>
            </a:r>
            <a:r>
              <a:rPr lang="en-US" sz="6300" b="1" kern="0" spc="-126" dirty="0">
                <a:solidFill>
                  <a:srgbClr val="008EAA"/>
                </a:solidFill>
                <a:latin typeface="Catamaran" pitchFamily="34" charset="0"/>
                <a:ea typeface="-apple-system" pitchFamily="34" charset="-122"/>
                <a:cs typeface="-apple-system" pitchFamily="34" charset="-120"/>
              </a:rPr>
              <a:t>everywhere.</a:t>
            </a:r>
            <a:endParaRPr lang="en-US" sz="6300" dirty="0"/>
          </a:p>
        </p:txBody>
      </p:sp>
      <p:sp>
        <p:nvSpPr>
          <p:cNvPr id="6" name="Text 4"/>
          <p:cNvSpPr/>
          <p:nvPr/>
        </p:nvSpPr>
        <p:spPr>
          <a:xfrm>
            <a:off x="952500" y="2093003"/>
            <a:ext cx="9600000" cy="3428010"/>
          </a:xfrm>
          <a:prstGeom prst="rect">
            <a:avLst/>
          </a:prstGeom>
          <a:noFill/>
          <a:ln/>
        </p:spPr>
        <p:txBody>
          <a:bodyPr wrap="square" lIns="25400" tIns="25400" rIns="25400" bIns="25400" rtlCol="0" anchor="t">
            <a:noAutofit/>
          </a:bodyPr>
          <a:lstStyle/>
          <a:p>
            <a:pPr marL="457200" indent="-457200">
              <a:lnSpc>
                <a:spcPct val="135000"/>
              </a:lnSpc>
              <a:buFont typeface="Arial" panose="020B0604020202020204" pitchFamily="34" charset="0"/>
              <a:buChar char="•"/>
            </a:pPr>
            <a:r>
              <a:rPr lang="en-US" sz="2600" b="1" dirty="0">
                <a:solidFill>
                  <a:srgbClr val="141414"/>
                </a:solidFill>
                <a:latin typeface="Avenir Book" panose="02000503020000020003" pitchFamily="2" charset="0"/>
                <a:ea typeface="-apple-system" pitchFamily="34" charset="-122"/>
              </a:rPr>
              <a:t>A voice memo in the van. </a:t>
            </a:r>
          </a:p>
          <a:p>
            <a:pPr marL="457200" indent="-457200">
              <a:lnSpc>
                <a:spcPct val="135000"/>
              </a:lnSpc>
              <a:buFont typeface="Arial" panose="020B0604020202020204" pitchFamily="34" charset="0"/>
              <a:buChar char="•"/>
            </a:pPr>
            <a:r>
              <a:rPr lang="en-US" sz="2600" b="1" dirty="0">
                <a:solidFill>
                  <a:srgbClr val="141414"/>
                </a:solidFill>
                <a:latin typeface="Avenir Book" panose="02000503020000020003" pitchFamily="2" charset="0"/>
                <a:ea typeface="-apple-system" pitchFamily="34" charset="-122"/>
              </a:rPr>
              <a:t>Three sentences in your notes app that made sense at the time. </a:t>
            </a:r>
          </a:p>
          <a:p>
            <a:pPr marL="457200" indent="-457200">
              <a:lnSpc>
                <a:spcPct val="135000"/>
              </a:lnSpc>
              <a:buFont typeface="Arial" panose="020B0604020202020204" pitchFamily="34" charset="0"/>
              <a:buChar char="•"/>
            </a:pPr>
            <a:r>
              <a:rPr lang="en-US" sz="2600" b="1" dirty="0">
                <a:solidFill>
                  <a:srgbClr val="141414"/>
                </a:solidFill>
                <a:latin typeface="Avenir Book" panose="02000503020000020003" pitchFamily="2" charset="0"/>
                <a:ea typeface="-apple-system" pitchFamily="34" charset="-122"/>
              </a:rPr>
              <a:t>A napkin jammed in the bottom of your bag. </a:t>
            </a:r>
          </a:p>
          <a:p>
            <a:pPr marL="457200" indent="-457200">
              <a:lnSpc>
                <a:spcPct val="135000"/>
              </a:lnSpc>
              <a:buFont typeface="Arial" panose="020B0604020202020204" pitchFamily="34" charset="0"/>
              <a:buChar char="•"/>
            </a:pPr>
            <a:r>
              <a:rPr lang="en-US" sz="2600" b="1" dirty="0">
                <a:solidFill>
                  <a:srgbClr val="141414"/>
                </a:solidFill>
                <a:latin typeface="Avenir Book" panose="02000503020000020003" pitchFamily="2" charset="0"/>
                <a:ea typeface="-apple-system" pitchFamily="34" charset="-122"/>
              </a:rPr>
              <a:t>An email you sent yourself at 9pm after a local wine tasting, with three words you were sure would help you write the best report for your client. </a:t>
            </a:r>
          </a:p>
        </p:txBody>
      </p:sp>
      <p:pic>
        <p:nvPicPr>
          <p:cNvPr id="9" name="Picture 8"/>
          <p:cNvPicPr>
            <a:picLocks noChangeAspect="1"/>
          </p:cNvPicPr>
          <p:nvPr/>
        </p:nvPicPr>
        <p:blipFill>
          <a:blip r:embed="rId3"/>
          <a:stretch>
            <a:fillRect/>
          </a:stretch>
        </p:blipFill>
        <p:spPr>
          <a:xfrm>
            <a:off x="11416000" y="0"/>
            <a:ext cx="6872000" cy="10287000"/>
          </a:xfrm>
          <a:prstGeom prst="rect">
            <a:avLst/>
          </a:prstGeom>
        </p:spPr>
      </p:pic>
      <p:sp>
        <p:nvSpPr>
          <p:cNvPr id="10" name="Text 1">
            <a:extLst>
              <a:ext uri="{FF2B5EF4-FFF2-40B4-BE49-F238E27FC236}">
                <a16:creationId xmlns:a16="http://schemas.microsoft.com/office/drawing/2014/main" id="{2B9FE6A9-48EF-4D3A-44E3-6E1D22123EEA}"/>
              </a:ext>
            </a:extLst>
          </p:cNvPr>
          <p:cNvSpPr/>
          <p:nvPr/>
        </p:nvSpPr>
        <p:spPr>
          <a:xfrm>
            <a:off x="5147453" y="5740653"/>
            <a:ext cx="1210094" cy="1006995"/>
          </a:xfrm>
          <a:prstGeom prst="rect">
            <a:avLst/>
          </a:prstGeom>
          <a:noFill/>
          <a:ln/>
        </p:spPr>
        <p:txBody>
          <a:bodyPr wrap="square" lIns="25400" tIns="25400" rIns="25400" bIns="25400" rtlCol="0" anchor="t">
            <a:normAutofit lnSpcReduction="10000"/>
          </a:bodyPr>
          <a:lstStyle/>
          <a:p>
            <a:pPr marL="0" indent="0" algn="l">
              <a:lnSpc>
                <a:spcPct val="100000"/>
              </a:lnSpc>
              <a:buNone/>
            </a:pPr>
            <a:r>
              <a:rPr lang="en-US" sz="6300" b="1" kern="0" spc="-126" dirty="0">
                <a:solidFill>
                  <a:srgbClr val="008EAA"/>
                </a:solidFill>
                <a:latin typeface="Catamaran" pitchFamily="34" charset="0"/>
                <a:ea typeface="-apple-system" pitchFamily="34" charset="-122"/>
                <a:cs typeface="-apple-system" pitchFamily="34" charset="-120"/>
              </a:rPr>
              <a:t>OR</a:t>
            </a:r>
            <a:endParaRPr lang="en-US" sz="6300" dirty="0"/>
          </a:p>
        </p:txBody>
      </p:sp>
      <p:sp>
        <p:nvSpPr>
          <p:cNvPr id="11" name="Text 4">
            <a:extLst>
              <a:ext uri="{FF2B5EF4-FFF2-40B4-BE49-F238E27FC236}">
                <a16:creationId xmlns:a16="http://schemas.microsoft.com/office/drawing/2014/main" id="{BB6836D6-1D8C-6246-B59C-EF8A2175EEA4}"/>
              </a:ext>
            </a:extLst>
          </p:cNvPr>
          <p:cNvSpPr/>
          <p:nvPr/>
        </p:nvSpPr>
        <p:spPr>
          <a:xfrm>
            <a:off x="952500" y="6534141"/>
            <a:ext cx="9600000" cy="3319712"/>
          </a:xfrm>
          <a:prstGeom prst="rect">
            <a:avLst/>
          </a:prstGeom>
          <a:noFill/>
          <a:ln/>
        </p:spPr>
        <p:txBody>
          <a:bodyPr wrap="square" lIns="25400" tIns="25400" rIns="25400" bIns="25400" rtlCol="0" anchor="t">
            <a:noAutofit/>
          </a:bodyPr>
          <a:lstStyle/>
          <a:p>
            <a:pPr>
              <a:lnSpc>
                <a:spcPct val="135000"/>
              </a:lnSpc>
            </a:pPr>
            <a:r>
              <a:rPr lang="en-US" sz="2600" b="1" dirty="0">
                <a:solidFill>
                  <a:srgbClr val="141414"/>
                </a:solidFill>
                <a:latin typeface="Avenir Book" panose="02000503020000020003" pitchFamily="2" charset="0"/>
                <a:ea typeface="-apple-system" pitchFamily="34" charset="-122"/>
              </a:rPr>
              <a:t>You're the supplier with notes in all the same places from conversations with planners, and you need to get it back to them fast. </a:t>
            </a:r>
          </a:p>
        </p:txBody>
      </p:sp>
      <p:sp>
        <p:nvSpPr>
          <p:cNvPr id="12" name="Text 4">
            <a:extLst>
              <a:ext uri="{FF2B5EF4-FFF2-40B4-BE49-F238E27FC236}">
                <a16:creationId xmlns:a16="http://schemas.microsoft.com/office/drawing/2014/main" id="{15782F72-A9CC-A0F0-98BF-AF2EA3CB48FF}"/>
              </a:ext>
            </a:extLst>
          </p:cNvPr>
          <p:cNvSpPr/>
          <p:nvPr/>
        </p:nvSpPr>
        <p:spPr>
          <a:xfrm>
            <a:off x="952500" y="8372169"/>
            <a:ext cx="9600000" cy="1664966"/>
          </a:xfrm>
          <a:prstGeom prst="rect">
            <a:avLst/>
          </a:prstGeom>
          <a:noFill/>
          <a:ln/>
        </p:spPr>
        <p:txBody>
          <a:bodyPr wrap="square" lIns="25400" tIns="25400" rIns="25400" bIns="25400" rtlCol="0" anchor="t">
            <a:noAutofit/>
          </a:bodyPr>
          <a:lstStyle/>
          <a:p>
            <a:pPr>
              <a:lnSpc>
                <a:spcPct val="135000"/>
              </a:lnSpc>
            </a:pPr>
            <a:r>
              <a:rPr lang="en-US" sz="2600" b="1" dirty="0">
                <a:solidFill>
                  <a:srgbClr val="141414"/>
                </a:solidFill>
                <a:latin typeface="Avenir Book" panose="02000503020000020003" pitchFamily="2" charset="0"/>
                <a:ea typeface="-apple-system" pitchFamily="34" charset="-122"/>
              </a:rPr>
              <a:t>All you have is sleep you didn't get, you've been out too late three nights in a row, and random notes scattered across your digital and physical work life.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a:extLst>
            <a:ext uri="{FF2B5EF4-FFF2-40B4-BE49-F238E27FC236}">
              <a16:creationId xmlns:a16="http://schemas.microsoft.com/office/drawing/2014/main" id="{A32C6F5B-7FCB-B96A-35D1-0A0B873E18B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40D28E2-A64F-5528-045D-9E2BB61F1582}"/>
              </a:ext>
            </a:extLst>
          </p:cNvPr>
          <p:cNvPicPr>
            <a:picLocks noChangeAspect="1"/>
          </p:cNvPicPr>
          <p:nvPr/>
        </p:nvPicPr>
        <p:blipFill>
          <a:blip r:embed="rId3"/>
          <a:stretch>
            <a:fillRect/>
          </a:stretch>
        </p:blipFill>
        <p:spPr>
          <a:xfrm>
            <a:off x="0" y="22860"/>
            <a:ext cx="18288000" cy="10241280"/>
          </a:xfrm>
          <a:prstGeom prst="rect">
            <a:avLst/>
          </a:prstGeom>
        </p:spPr>
      </p:pic>
      <p:sp>
        <p:nvSpPr>
          <p:cNvPr id="20" name="Overlay"/>
          <p:cNvSpPr/>
          <p:nvPr/>
        </p:nvSpPr>
        <p:spPr>
          <a:xfrm>
            <a:off x="0" y="0"/>
            <a:ext cx="18288000" cy="10287000"/>
          </a:xfrm>
          <a:prstGeom prst="rect">
            <a:avLst/>
          </a:prstGeom>
          <a:solidFill>
            <a:srgbClr val="000000">
              <a:alpha val="33000"/>
            </a:srgbClr>
          </a:solidFill>
          <a:ln>
            <a:noFill/>
          </a:ln>
        </p:spPr>
        <p:txBody>
          <a:bodyPr/>
          <a:lstStyle/>
          <a:p>
            <a:endParaRPr lang="en-US"/>
          </a:p>
        </p:txBody>
      </p:sp>
      <p:sp>
        <p:nvSpPr>
          <p:cNvPr id="2" name="Text 0">
            <a:extLst>
              <a:ext uri="{FF2B5EF4-FFF2-40B4-BE49-F238E27FC236}">
                <a16:creationId xmlns:a16="http://schemas.microsoft.com/office/drawing/2014/main" id="{A6C88A45-F5C6-E636-4849-8BE7EC0E2DB5}"/>
              </a:ext>
            </a:extLst>
          </p:cNvPr>
          <p:cNvSpPr/>
          <p:nvPr/>
        </p:nvSpPr>
        <p:spPr>
          <a:xfrm>
            <a:off x="952500" y="611796"/>
            <a:ext cx="9600000" cy="304800"/>
          </a:xfrm>
          <a:prstGeom prst="rect">
            <a:avLst/>
          </a:prstGeom>
          <a:noFill/>
          <a:ln/>
        </p:spPr>
        <p:txBody>
          <a:bodyPr wrap="square" lIns="25400" tIns="25400" rIns="25400" bIns="25400" rtlCol="0" anchor="t">
            <a:normAutofit lnSpcReduction="10000"/>
          </a:bodyPr>
          <a:lstStyle/>
          <a:p>
            <a:pPr marL="0" indent="0" algn="l">
              <a:buNone/>
            </a:pPr>
            <a:endParaRPr lang="en-US" sz="1800" dirty="0"/>
          </a:p>
        </p:txBody>
      </p:sp>
      <p:sp>
        <p:nvSpPr>
          <p:cNvPr id="7" name="Rectangle 6">
            <a:extLst>
              <a:ext uri="{FF2B5EF4-FFF2-40B4-BE49-F238E27FC236}">
                <a16:creationId xmlns:a16="http://schemas.microsoft.com/office/drawing/2014/main" id="{6A2EDC46-FC27-A025-7A68-6BC620FF8877}"/>
              </a:ext>
            </a:extLst>
          </p:cNvPr>
          <p:cNvSpPr/>
          <p:nvPr/>
        </p:nvSpPr>
        <p:spPr>
          <a:xfrm>
            <a:off x="558808" y="318977"/>
            <a:ext cx="6947778" cy="167994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1">
            <a:extLst>
              <a:ext uri="{FF2B5EF4-FFF2-40B4-BE49-F238E27FC236}">
                <a16:creationId xmlns:a16="http://schemas.microsoft.com/office/drawing/2014/main" id="{88F9850F-629A-72A1-C991-E50753DE0195}"/>
              </a:ext>
            </a:extLst>
          </p:cNvPr>
          <p:cNvSpPr/>
          <p:nvPr/>
        </p:nvSpPr>
        <p:spPr>
          <a:xfrm>
            <a:off x="952500" y="218074"/>
            <a:ext cx="9600000" cy="304800"/>
          </a:xfrm>
          <a:prstGeom prst="rect">
            <a:avLst/>
          </a:prstGeom>
          <a:noFill/>
          <a:ln/>
        </p:spPr>
        <p:txBody>
          <a:bodyPr wrap="square" lIns="25400" tIns="25400" rIns="25400" bIns="25400" rtlCol="0" anchor="t">
            <a:noAutofit/>
          </a:bodyPr>
          <a:lstStyle/>
          <a:p>
            <a:pPr marL="0" indent="0" algn="l">
              <a:lnSpc>
                <a:spcPct val="100000"/>
              </a:lnSpc>
              <a:buNone/>
            </a:pPr>
            <a:r>
              <a:rPr lang="en-US" sz="11100" b="1" kern="0" spc="-126" dirty="0">
                <a:solidFill>
                  <a:srgbClr val="141414"/>
                </a:solidFill>
                <a:latin typeface="Catamaran" pitchFamily="34" charset="0"/>
                <a:ea typeface="-apple-system" pitchFamily="34" charset="-122"/>
                <a:cs typeface="-apple-system" pitchFamily="34" charset="-120"/>
              </a:rPr>
              <a:t>Either </a:t>
            </a:r>
            <a:r>
              <a:rPr lang="en-US" sz="11100" b="1" kern="0" spc="-126" dirty="0">
                <a:solidFill>
                  <a:srgbClr val="008EAA"/>
                </a:solidFill>
                <a:latin typeface="Catamaran" pitchFamily="34" charset="0"/>
                <a:ea typeface="-apple-system" pitchFamily="34" charset="-122"/>
                <a:cs typeface="-apple-system" pitchFamily="34" charset="-120"/>
              </a:rPr>
              <a:t>way:</a:t>
            </a:r>
            <a:endParaRPr lang="en-US" sz="11100" dirty="0"/>
          </a:p>
        </p:txBody>
      </p:sp>
      <p:sp>
        <p:nvSpPr>
          <p:cNvPr id="12" name="Text 4">
            <a:extLst>
              <a:ext uri="{FF2B5EF4-FFF2-40B4-BE49-F238E27FC236}">
                <a16:creationId xmlns:a16="http://schemas.microsoft.com/office/drawing/2014/main" id="{4DBD59D3-A0E4-E0CA-0B3F-7B750DE4D297}"/>
              </a:ext>
            </a:extLst>
          </p:cNvPr>
          <p:cNvSpPr/>
          <p:nvPr/>
        </p:nvSpPr>
        <p:spPr>
          <a:xfrm>
            <a:off x="1679945" y="2176766"/>
            <a:ext cx="16182754" cy="3425032"/>
          </a:xfrm>
          <a:prstGeom prst="rect">
            <a:avLst/>
          </a:prstGeom>
          <a:noFill/>
          <a:ln/>
        </p:spPr>
        <p:txBody>
          <a:bodyPr wrap="square" lIns="25400" tIns="25400" rIns="25400" bIns="25400" rtlCol="0" anchor="t">
            <a:noAutofit/>
          </a:bodyPr>
          <a:lstStyle/>
          <a:p>
            <a:pPr marL="571500" indent="-571500">
              <a:lnSpc>
                <a:spcPct val="135000"/>
              </a:lnSpc>
              <a:buFont typeface="Arial" panose="020B0604020202020204" pitchFamily="34" charset="0"/>
              <a:buChar char="•"/>
            </a:pPr>
            <a:r>
              <a:rPr lang="en-US" sz="4000" b="1" dirty="0">
                <a:solidFill>
                  <a:schemeClr val="bg1"/>
                </a:solidFill>
                <a:latin typeface="Avenir Book" panose="02000503020000020003" pitchFamily="2" charset="0"/>
                <a:ea typeface="-apple-system" pitchFamily="34" charset="-122"/>
              </a:rPr>
              <a:t>All you have is sleep you didn't get</a:t>
            </a:r>
          </a:p>
          <a:p>
            <a:pPr marL="571500" indent="-571500">
              <a:lnSpc>
                <a:spcPct val="135000"/>
              </a:lnSpc>
              <a:buFont typeface="Arial" panose="020B0604020202020204" pitchFamily="34" charset="0"/>
              <a:buChar char="•"/>
            </a:pPr>
            <a:r>
              <a:rPr lang="en-US" sz="4000" b="1" dirty="0">
                <a:solidFill>
                  <a:schemeClr val="bg1"/>
                </a:solidFill>
                <a:latin typeface="Avenir Book" panose="02000503020000020003" pitchFamily="2" charset="0"/>
                <a:ea typeface="-apple-system" pitchFamily="34" charset="-122"/>
              </a:rPr>
              <a:t>You've been out too late three nights in a row</a:t>
            </a:r>
          </a:p>
          <a:p>
            <a:pPr marL="571500" indent="-571500">
              <a:lnSpc>
                <a:spcPct val="135000"/>
              </a:lnSpc>
              <a:buFont typeface="Arial" panose="020B0604020202020204" pitchFamily="34" charset="0"/>
              <a:buChar char="•"/>
            </a:pPr>
            <a:r>
              <a:rPr lang="en-US" sz="4000" b="1" dirty="0">
                <a:solidFill>
                  <a:schemeClr val="bg1"/>
                </a:solidFill>
                <a:latin typeface="Avenir Book" panose="02000503020000020003" pitchFamily="2" charset="0"/>
                <a:ea typeface="-apple-system" pitchFamily="34" charset="-122"/>
              </a:rPr>
              <a:t>&amp; random notes scattered across your digital and physical work life. </a:t>
            </a:r>
          </a:p>
        </p:txBody>
      </p:sp>
    </p:spTree>
    <p:extLst>
      <p:ext uri="{BB962C8B-B14F-4D97-AF65-F5344CB8AC3E}">
        <p14:creationId xmlns:p14="http://schemas.microsoft.com/office/powerpoint/2010/main" val="1685965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3381153" y="1105786"/>
            <a:ext cx="11249247" cy="1223076"/>
          </a:xfrm>
          <a:prstGeom prst="rect">
            <a:avLst/>
          </a:prstGeom>
          <a:noFill/>
          <a:ln/>
        </p:spPr>
        <p:txBody>
          <a:bodyPr wrap="square" lIns="25400" tIns="25400" rIns="25400" bIns="25400" rtlCol="0" anchor="t">
            <a:noAutofit/>
          </a:bodyPr>
          <a:lstStyle/>
          <a:p>
            <a:pPr marL="0" indent="0" algn="ctr">
              <a:buNone/>
            </a:pPr>
            <a:r>
              <a:rPr lang="en-US" sz="4500" b="1" kern="0" spc="396" dirty="0">
                <a:solidFill>
                  <a:srgbClr val="008EAA"/>
                </a:solidFill>
                <a:latin typeface="Avenir" pitchFamily="34" charset="0"/>
                <a:ea typeface="-apple-system" pitchFamily="34" charset="-122"/>
                <a:cs typeface="-apple-system" pitchFamily="34" charset="-120"/>
              </a:rPr>
              <a:t>LET’S MAKE LIFE EASIER</a:t>
            </a:r>
            <a:endParaRPr lang="en-US" sz="4500" dirty="0"/>
          </a:p>
        </p:txBody>
      </p:sp>
      <p:sp>
        <p:nvSpPr>
          <p:cNvPr id="3" name="Text 1"/>
          <p:cNvSpPr/>
          <p:nvPr/>
        </p:nvSpPr>
        <p:spPr>
          <a:xfrm>
            <a:off x="1882589" y="2671763"/>
            <a:ext cx="14522823" cy="4495800"/>
          </a:xfrm>
          <a:prstGeom prst="rect">
            <a:avLst/>
          </a:prstGeom>
          <a:noFill/>
          <a:ln/>
        </p:spPr>
        <p:txBody>
          <a:bodyPr wrap="square" lIns="25400" tIns="25400" rIns="25400" bIns="25400" rtlCol="0" anchor="t">
            <a:normAutofit fontScale="85000" lnSpcReduction="10000"/>
          </a:bodyPr>
          <a:lstStyle/>
          <a:p>
            <a:pPr marL="0" indent="0" algn="ctr">
              <a:lnSpc>
                <a:spcPct val="90000"/>
              </a:lnSpc>
              <a:buNone/>
            </a:pPr>
            <a:r>
              <a:rPr lang="en-US" sz="19500" b="1" kern="0" spc="-682" dirty="0">
                <a:solidFill>
                  <a:srgbClr val="141414"/>
                </a:solidFill>
                <a:latin typeface="Catamaran" pitchFamily="34" charset="0"/>
                <a:ea typeface="-apple-system" pitchFamily="34" charset="-122"/>
                <a:cs typeface="-apple-system" pitchFamily="34" charset="-120"/>
              </a:rPr>
              <a:t>Open it an AI tool. </a:t>
            </a:r>
            <a:r>
              <a:rPr lang="en-US" sz="19500" b="1" kern="0" spc="-682" dirty="0">
                <a:solidFill>
                  <a:srgbClr val="008EAA"/>
                </a:solidFill>
                <a:latin typeface="Catamaran" pitchFamily="34" charset="0"/>
                <a:ea typeface="-apple-system" pitchFamily="34" charset="-122"/>
                <a:cs typeface="-apple-system" pitchFamily="34" charset="-120"/>
              </a:rPr>
              <a:t>Start talking.</a:t>
            </a:r>
            <a:endParaRPr lang="en-US" sz="19500" dirty="0"/>
          </a:p>
        </p:txBody>
      </p:sp>
      <p:sp>
        <p:nvSpPr>
          <p:cNvPr id="4" name="Text 2"/>
          <p:cNvSpPr/>
          <p:nvPr/>
        </p:nvSpPr>
        <p:spPr>
          <a:xfrm>
            <a:off x="2673811" y="7815263"/>
            <a:ext cx="12940303" cy="485775"/>
          </a:xfrm>
          <a:prstGeom prst="rect">
            <a:avLst/>
          </a:prstGeom>
          <a:noFill/>
          <a:ln/>
        </p:spPr>
        <p:txBody>
          <a:bodyPr wrap="square" lIns="25400" tIns="25400" rIns="25400" bIns="25400" rtlCol="0" anchor="t">
            <a:normAutofit lnSpcReduction="10000"/>
          </a:bodyPr>
          <a:lstStyle/>
          <a:p>
            <a:pPr marL="0" indent="0" algn="ctr">
              <a:buNone/>
            </a:pPr>
            <a:r>
              <a:rPr lang="en-US" sz="3000" b="1">
                <a:solidFill>
                  <a:srgbClr val="2A2A2A"/>
                </a:solidFill>
                <a:latin typeface="Avenir" pitchFamily="34" charset="0"/>
                <a:ea typeface="-apple-system" pitchFamily="34" charset="-122"/>
                <a:cs typeface="-apple-system" pitchFamily="34" charset="-120"/>
              </a:rPr>
              <a:t>With whatever AI tool you already have access to. They're all capable of this.</a:t>
            </a:r>
            <a:endParaRPr lang="en-US" sz="3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952500" y="952500"/>
            <a:ext cx="16874490"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96">
                <a:solidFill>
                  <a:srgbClr val="008EAA"/>
                </a:solidFill>
                <a:latin typeface="Avenir" pitchFamily="34" charset="0"/>
                <a:ea typeface="-apple-system" pitchFamily="34" charset="-122"/>
                <a:cs typeface="-apple-system" pitchFamily="34" charset="-120"/>
              </a:rPr>
              <a:t>STEP ONE</a:t>
            </a:r>
            <a:endParaRPr lang="en-US" sz="1800" dirty="0"/>
          </a:p>
        </p:txBody>
      </p:sp>
      <p:sp>
        <p:nvSpPr>
          <p:cNvPr id="3" name="Text 1"/>
          <p:cNvSpPr/>
          <p:nvPr/>
        </p:nvSpPr>
        <p:spPr>
          <a:xfrm>
            <a:off x="952500" y="1524000"/>
            <a:ext cx="16874490" cy="906735"/>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7200" b="1" kern="0" spc="-180" dirty="0">
                <a:solidFill>
                  <a:srgbClr val="141414"/>
                </a:solidFill>
                <a:latin typeface="Catamaran" pitchFamily="34" charset="0"/>
                <a:ea typeface="-apple-system" pitchFamily="34" charset="-122"/>
                <a:cs typeface="-apple-system" pitchFamily="34" charset="-120"/>
              </a:rPr>
              <a:t>Give it </a:t>
            </a:r>
            <a:r>
              <a:rPr lang="en-US" sz="7200" b="1" kern="0" spc="-180" dirty="0">
                <a:solidFill>
                  <a:srgbClr val="008EAA"/>
                </a:solidFill>
                <a:latin typeface="Catamaran" pitchFamily="34" charset="0"/>
                <a:ea typeface="-apple-system" pitchFamily="34" charset="-122"/>
                <a:cs typeface="-apple-system" pitchFamily="34" charset="-120"/>
              </a:rPr>
              <a:t>everything </a:t>
            </a:r>
            <a:r>
              <a:rPr lang="en-US" sz="7200" b="1" kern="0" spc="-180" dirty="0">
                <a:solidFill>
                  <a:srgbClr val="141414"/>
                </a:solidFill>
                <a:latin typeface="Catamaran" pitchFamily="34" charset="0"/>
                <a:ea typeface="-apple-system" pitchFamily="34" charset="-122"/>
                <a:cs typeface="-apple-system" pitchFamily="34" charset="-120"/>
              </a:rPr>
              <a:t>you have.</a:t>
            </a:r>
            <a:endParaRPr lang="en-US" sz="7200" dirty="0"/>
          </a:p>
        </p:txBody>
      </p:sp>
      <p:sp>
        <p:nvSpPr>
          <p:cNvPr id="4" name="Shape 2"/>
          <p:cNvSpPr/>
          <p:nvPr/>
        </p:nvSpPr>
        <p:spPr>
          <a:xfrm>
            <a:off x="952500" y="3896618"/>
            <a:ext cx="3063180" cy="3762301"/>
          </a:xfrm>
          <a:prstGeom prst="roundRect">
            <a:avLst>
              <a:gd name="adj" fmla="val 3731"/>
            </a:avLst>
          </a:prstGeom>
          <a:solidFill>
            <a:srgbClr val="F7F4EE"/>
          </a:solidFill>
          <a:ln w="19050">
            <a:solidFill>
              <a:srgbClr val="141414"/>
            </a:solidFill>
            <a:prstDash val="solid"/>
          </a:ln>
          <a:effectLst>
            <a:outerShdw blurRad="101600" dist="134704" dir="2700000" algn="bl" rotWithShape="0">
              <a:srgbClr val="008EAA">
                <a:alpha val="100000"/>
              </a:srgbClr>
            </a:outerShdw>
          </a:effectLst>
        </p:spPr>
        <p:txBody>
          <a:bodyPr/>
          <a:lstStyle/>
          <a:p>
            <a:endParaRPr lang="en-US"/>
          </a:p>
        </p:txBody>
      </p:sp>
      <p:sp>
        <p:nvSpPr>
          <p:cNvPr id="5" name="Text 3"/>
          <p:cNvSpPr/>
          <p:nvPr/>
        </p:nvSpPr>
        <p:spPr>
          <a:xfrm>
            <a:off x="1238250" y="6015856"/>
            <a:ext cx="457200" cy="485775"/>
          </a:xfrm>
          <a:prstGeom prst="rect">
            <a:avLst/>
          </a:prstGeom>
          <a:noFill/>
          <a:ln/>
        </p:spPr>
        <p:txBody>
          <a:bodyPr wrap="square" lIns="0" tIns="0" rIns="0" bIns="0" rtlCol="0" anchor="t">
            <a:normAutofit lnSpcReduction="10000"/>
          </a:bodyPr>
          <a:lstStyle/>
          <a:p>
            <a:pPr marL="0" indent="0" algn="l">
              <a:lnSpc>
                <a:spcPct val="115000"/>
              </a:lnSpc>
              <a:buNone/>
            </a:pPr>
            <a:r>
              <a:rPr lang="en-US" sz="3000" b="1">
                <a:solidFill>
                  <a:srgbClr val="141414"/>
                </a:solidFill>
                <a:latin typeface="Avenir" pitchFamily="34" charset="0"/>
                <a:ea typeface="-apple-system" pitchFamily="34" charset="-122"/>
                <a:cs typeface="-apple-system" pitchFamily="34" charset="-120"/>
              </a:rPr>
              <a:t>📸</a:t>
            </a:r>
            <a:endParaRPr lang="en-US" sz="3000" dirty="0"/>
          </a:p>
        </p:txBody>
      </p:sp>
      <p:sp>
        <p:nvSpPr>
          <p:cNvPr id="6" name="Text 4"/>
          <p:cNvSpPr/>
          <p:nvPr/>
        </p:nvSpPr>
        <p:spPr>
          <a:xfrm>
            <a:off x="1238250" y="6454006"/>
            <a:ext cx="1760413" cy="923925"/>
          </a:xfrm>
          <a:prstGeom prst="rect">
            <a:avLst/>
          </a:prstGeom>
          <a:noFill/>
          <a:ln/>
        </p:spPr>
        <p:txBody>
          <a:bodyPr wrap="square" lIns="0" tIns="0" rIns="0" bIns="0" rtlCol="0" anchor="t">
            <a:normAutofit fontScale="92500" lnSpcReduction="10000"/>
          </a:bodyPr>
          <a:lstStyle/>
          <a:p>
            <a:pPr marL="0" indent="0" algn="l">
              <a:lnSpc>
                <a:spcPct val="115000"/>
              </a:lnSpc>
              <a:buNone/>
            </a:pPr>
            <a:r>
              <a:rPr lang="en-US" sz="3000" b="1">
                <a:solidFill>
                  <a:srgbClr val="141414"/>
                </a:solidFill>
                <a:latin typeface="Avenir" pitchFamily="34" charset="0"/>
                <a:ea typeface="-apple-system" pitchFamily="34" charset="-122"/>
                <a:cs typeface="-apple-system" pitchFamily="34" charset="-120"/>
              </a:rPr>
              <a:t>Photos of napkins</a:t>
            </a:r>
            <a:endParaRPr lang="en-US" sz="3000" dirty="0"/>
          </a:p>
        </p:txBody>
      </p:sp>
      <p:sp>
        <p:nvSpPr>
          <p:cNvPr id="7" name="Shape 5"/>
          <p:cNvSpPr/>
          <p:nvPr/>
        </p:nvSpPr>
        <p:spPr>
          <a:xfrm>
            <a:off x="4282380" y="3896618"/>
            <a:ext cx="3063255" cy="3762375"/>
          </a:xfrm>
          <a:prstGeom prst="roundRect">
            <a:avLst>
              <a:gd name="adj" fmla="val 3731"/>
            </a:avLst>
          </a:prstGeom>
          <a:solidFill>
            <a:srgbClr val="F7F4EE"/>
          </a:solidFill>
          <a:ln w="19050">
            <a:solidFill>
              <a:srgbClr val="141414"/>
            </a:solidFill>
            <a:prstDash val="solid"/>
          </a:ln>
          <a:effectLst>
            <a:outerShdw blurRad="101600" dist="134704" dir="2700000" algn="bl" rotWithShape="0">
              <a:srgbClr val="008EAA">
                <a:alpha val="100000"/>
              </a:srgbClr>
            </a:outerShdw>
          </a:effectLst>
        </p:spPr>
        <p:txBody>
          <a:bodyPr/>
          <a:lstStyle/>
          <a:p>
            <a:endParaRPr lang="en-US"/>
          </a:p>
        </p:txBody>
      </p:sp>
      <p:sp>
        <p:nvSpPr>
          <p:cNvPr id="8" name="Text 6"/>
          <p:cNvSpPr/>
          <p:nvPr/>
        </p:nvSpPr>
        <p:spPr>
          <a:xfrm>
            <a:off x="4568130" y="5577780"/>
            <a:ext cx="457200" cy="485775"/>
          </a:xfrm>
          <a:prstGeom prst="rect">
            <a:avLst/>
          </a:prstGeom>
          <a:noFill/>
          <a:ln/>
        </p:spPr>
        <p:txBody>
          <a:bodyPr wrap="square" lIns="0" tIns="0" rIns="0" bIns="0" rtlCol="0" anchor="t">
            <a:normAutofit lnSpcReduction="10000"/>
          </a:bodyPr>
          <a:lstStyle/>
          <a:p>
            <a:pPr marL="0" indent="0" algn="l">
              <a:lnSpc>
                <a:spcPct val="115000"/>
              </a:lnSpc>
              <a:buNone/>
            </a:pPr>
            <a:r>
              <a:rPr lang="en-US" sz="3000" b="1">
                <a:solidFill>
                  <a:srgbClr val="141414"/>
                </a:solidFill>
                <a:latin typeface="Avenir" pitchFamily="34" charset="0"/>
                <a:ea typeface="-apple-system" pitchFamily="34" charset="-122"/>
                <a:cs typeface="-apple-system" pitchFamily="34" charset="-120"/>
              </a:rPr>
              <a:t>💬</a:t>
            </a:r>
            <a:endParaRPr lang="en-US" sz="3000" dirty="0"/>
          </a:p>
        </p:txBody>
      </p:sp>
      <p:sp>
        <p:nvSpPr>
          <p:cNvPr id="9" name="Text 7"/>
          <p:cNvSpPr/>
          <p:nvPr/>
        </p:nvSpPr>
        <p:spPr>
          <a:xfrm>
            <a:off x="4568130" y="6015930"/>
            <a:ext cx="2306389" cy="1362075"/>
          </a:xfrm>
          <a:prstGeom prst="rect">
            <a:avLst/>
          </a:prstGeom>
          <a:noFill/>
          <a:ln/>
        </p:spPr>
        <p:txBody>
          <a:bodyPr wrap="square" lIns="0" tIns="0" rIns="0" bIns="0" rtlCol="0" anchor="t">
            <a:normAutofit fontScale="92500" lnSpcReduction="10000"/>
          </a:bodyPr>
          <a:lstStyle/>
          <a:p>
            <a:pPr marL="0" indent="0" algn="l">
              <a:lnSpc>
                <a:spcPct val="115000"/>
              </a:lnSpc>
              <a:buNone/>
            </a:pPr>
            <a:r>
              <a:rPr lang="en-US" sz="3000" b="1">
                <a:solidFill>
                  <a:srgbClr val="141414"/>
                </a:solidFill>
                <a:latin typeface="Avenir" pitchFamily="34" charset="0"/>
                <a:ea typeface="-apple-system" pitchFamily="34" charset="-122"/>
                <a:cs typeface="-apple-system" pitchFamily="34" charset="-120"/>
              </a:rPr>
              <a:t>Screenshots of that 9:30pm text</a:t>
            </a:r>
            <a:endParaRPr lang="en-US" sz="3000" dirty="0"/>
          </a:p>
        </p:txBody>
      </p:sp>
      <p:sp>
        <p:nvSpPr>
          <p:cNvPr id="10" name="Shape 8"/>
          <p:cNvSpPr/>
          <p:nvPr/>
        </p:nvSpPr>
        <p:spPr>
          <a:xfrm>
            <a:off x="7612335" y="3896618"/>
            <a:ext cx="3063255" cy="3762375"/>
          </a:xfrm>
          <a:prstGeom prst="roundRect">
            <a:avLst>
              <a:gd name="adj" fmla="val 3731"/>
            </a:avLst>
          </a:prstGeom>
          <a:solidFill>
            <a:srgbClr val="F7F4EE"/>
          </a:solidFill>
          <a:ln w="19050">
            <a:solidFill>
              <a:srgbClr val="141414"/>
            </a:solidFill>
            <a:prstDash val="solid"/>
          </a:ln>
          <a:effectLst>
            <a:outerShdw blurRad="101600" dist="134704" dir="2700000" algn="bl" rotWithShape="0">
              <a:srgbClr val="008EAA">
                <a:alpha val="100000"/>
              </a:srgbClr>
            </a:outerShdw>
          </a:effectLst>
        </p:spPr>
        <p:txBody>
          <a:bodyPr/>
          <a:lstStyle/>
          <a:p>
            <a:endParaRPr lang="en-US"/>
          </a:p>
        </p:txBody>
      </p:sp>
      <p:sp>
        <p:nvSpPr>
          <p:cNvPr id="11" name="Text 9"/>
          <p:cNvSpPr/>
          <p:nvPr/>
        </p:nvSpPr>
        <p:spPr>
          <a:xfrm>
            <a:off x="7898085" y="6015930"/>
            <a:ext cx="457200" cy="485775"/>
          </a:xfrm>
          <a:prstGeom prst="rect">
            <a:avLst/>
          </a:prstGeom>
          <a:noFill/>
          <a:ln/>
        </p:spPr>
        <p:txBody>
          <a:bodyPr wrap="square" lIns="0" tIns="0" rIns="0" bIns="0" rtlCol="0" anchor="t">
            <a:normAutofit lnSpcReduction="10000"/>
          </a:bodyPr>
          <a:lstStyle/>
          <a:p>
            <a:pPr marL="0" indent="0" algn="l">
              <a:lnSpc>
                <a:spcPct val="115000"/>
              </a:lnSpc>
              <a:buNone/>
            </a:pPr>
            <a:r>
              <a:rPr lang="en-US" sz="3000" b="1">
                <a:solidFill>
                  <a:srgbClr val="141414"/>
                </a:solidFill>
                <a:latin typeface="Avenir" pitchFamily="34" charset="0"/>
                <a:ea typeface="-apple-system" pitchFamily="34" charset="-122"/>
                <a:cs typeface="-apple-system" pitchFamily="34" charset="-120"/>
              </a:rPr>
              <a:t>📄</a:t>
            </a:r>
            <a:endParaRPr lang="en-US" sz="3000" dirty="0"/>
          </a:p>
        </p:txBody>
      </p:sp>
      <p:sp>
        <p:nvSpPr>
          <p:cNvPr id="12" name="Text 10"/>
          <p:cNvSpPr/>
          <p:nvPr/>
        </p:nvSpPr>
        <p:spPr>
          <a:xfrm>
            <a:off x="7898085" y="6454080"/>
            <a:ext cx="2351410" cy="923925"/>
          </a:xfrm>
          <a:prstGeom prst="rect">
            <a:avLst/>
          </a:prstGeom>
          <a:noFill/>
          <a:ln/>
        </p:spPr>
        <p:txBody>
          <a:bodyPr wrap="square" lIns="0" tIns="0" rIns="0" bIns="0" rtlCol="0" anchor="t">
            <a:normAutofit fontScale="92500" lnSpcReduction="10000"/>
          </a:bodyPr>
          <a:lstStyle/>
          <a:p>
            <a:pPr marL="0" indent="0" algn="l">
              <a:lnSpc>
                <a:spcPct val="115000"/>
              </a:lnSpc>
              <a:buNone/>
            </a:pPr>
            <a:r>
              <a:rPr lang="en-US" sz="3000" b="1">
                <a:solidFill>
                  <a:srgbClr val="141414"/>
                </a:solidFill>
                <a:latin typeface="Avenir" pitchFamily="34" charset="0"/>
                <a:ea typeface="-apple-system" pitchFamily="34" charset="-122"/>
                <a:cs typeface="-apple-system" pitchFamily="34" charset="-120"/>
              </a:rPr>
              <a:t>The fam itinerary PDF</a:t>
            </a:r>
            <a:endParaRPr lang="en-US" sz="3000" dirty="0"/>
          </a:p>
        </p:txBody>
      </p:sp>
      <p:sp>
        <p:nvSpPr>
          <p:cNvPr id="13" name="Shape 11"/>
          <p:cNvSpPr/>
          <p:nvPr/>
        </p:nvSpPr>
        <p:spPr>
          <a:xfrm>
            <a:off x="10942290" y="3896618"/>
            <a:ext cx="3063255" cy="3762375"/>
          </a:xfrm>
          <a:prstGeom prst="roundRect">
            <a:avLst>
              <a:gd name="adj" fmla="val 3731"/>
            </a:avLst>
          </a:prstGeom>
          <a:solidFill>
            <a:srgbClr val="F7F4EE"/>
          </a:solidFill>
          <a:ln w="19050">
            <a:solidFill>
              <a:srgbClr val="141414"/>
            </a:solidFill>
            <a:prstDash val="solid"/>
          </a:ln>
          <a:effectLst>
            <a:outerShdw blurRad="101600" dist="134704" dir="2700000" algn="bl" rotWithShape="0">
              <a:srgbClr val="008EAA">
                <a:alpha val="100000"/>
              </a:srgbClr>
            </a:outerShdw>
          </a:effectLst>
        </p:spPr>
        <p:txBody>
          <a:bodyPr/>
          <a:lstStyle/>
          <a:p>
            <a:endParaRPr lang="en-US"/>
          </a:p>
        </p:txBody>
      </p:sp>
      <p:sp>
        <p:nvSpPr>
          <p:cNvPr id="14" name="Text 12"/>
          <p:cNvSpPr/>
          <p:nvPr/>
        </p:nvSpPr>
        <p:spPr>
          <a:xfrm>
            <a:off x="11228040" y="5577780"/>
            <a:ext cx="457200" cy="485775"/>
          </a:xfrm>
          <a:prstGeom prst="rect">
            <a:avLst/>
          </a:prstGeom>
          <a:noFill/>
          <a:ln/>
        </p:spPr>
        <p:txBody>
          <a:bodyPr wrap="square" lIns="0" tIns="0" rIns="0" bIns="0" rtlCol="0" anchor="t">
            <a:normAutofit lnSpcReduction="10000"/>
          </a:bodyPr>
          <a:lstStyle/>
          <a:p>
            <a:pPr marL="0" indent="0" algn="l">
              <a:lnSpc>
                <a:spcPct val="115000"/>
              </a:lnSpc>
              <a:buNone/>
            </a:pPr>
            <a:r>
              <a:rPr lang="en-US" sz="3000" b="1">
                <a:solidFill>
                  <a:srgbClr val="141414"/>
                </a:solidFill>
                <a:latin typeface="Avenir" pitchFamily="34" charset="0"/>
                <a:ea typeface="-apple-system" pitchFamily="34" charset="-122"/>
                <a:cs typeface="-apple-system" pitchFamily="34" charset="-120"/>
              </a:rPr>
              <a:t>📁</a:t>
            </a:r>
            <a:endParaRPr lang="en-US" sz="3000" dirty="0"/>
          </a:p>
        </p:txBody>
      </p:sp>
      <p:sp>
        <p:nvSpPr>
          <p:cNvPr id="15" name="Text 13"/>
          <p:cNvSpPr/>
          <p:nvPr/>
        </p:nvSpPr>
        <p:spPr>
          <a:xfrm>
            <a:off x="11228040" y="6015930"/>
            <a:ext cx="2069753" cy="1362075"/>
          </a:xfrm>
          <a:prstGeom prst="rect">
            <a:avLst/>
          </a:prstGeom>
          <a:noFill/>
          <a:ln/>
        </p:spPr>
        <p:txBody>
          <a:bodyPr wrap="square" lIns="0" tIns="0" rIns="0" bIns="0" rtlCol="0" anchor="t">
            <a:normAutofit fontScale="92500" lnSpcReduction="10000"/>
          </a:bodyPr>
          <a:lstStyle/>
          <a:p>
            <a:pPr marL="0" indent="0" algn="l">
              <a:lnSpc>
                <a:spcPct val="115000"/>
              </a:lnSpc>
              <a:buNone/>
            </a:pPr>
            <a:r>
              <a:rPr lang="en-US" sz="3000" b="1">
                <a:solidFill>
                  <a:srgbClr val="141414"/>
                </a:solidFill>
                <a:latin typeface="Avenir" pitchFamily="34" charset="0"/>
                <a:ea typeface="-apple-system" pitchFamily="34" charset="-122"/>
                <a:cs typeface="-apple-system" pitchFamily="34" charset="-120"/>
              </a:rPr>
              <a:t>All the destination materials</a:t>
            </a:r>
            <a:endParaRPr lang="en-US" sz="3000" dirty="0"/>
          </a:p>
        </p:txBody>
      </p:sp>
      <p:sp>
        <p:nvSpPr>
          <p:cNvPr id="16" name="Shape 14"/>
          <p:cNvSpPr/>
          <p:nvPr/>
        </p:nvSpPr>
        <p:spPr>
          <a:xfrm>
            <a:off x="14272245" y="3896618"/>
            <a:ext cx="3063255" cy="3762375"/>
          </a:xfrm>
          <a:prstGeom prst="roundRect">
            <a:avLst>
              <a:gd name="adj" fmla="val 3731"/>
            </a:avLst>
          </a:prstGeom>
          <a:solidFill>
            <a:srgbClr val="F7F4EE"/>
          </a:solidFill>
          <a:ln w="19050">
            <a:solidFill>
              <a:srgbClr val="141414"/>
            </a:solidFill>
            <a:prstDash val="solid"/>
          </a:ln>
          <a:effectLst>
            <a:outerShdw blurRad="101600" dist="134704" dir="2700000" algn="bl" rotWithShape="0">
              <a:srgbClr val="008EAA">
                <a:alpha val="100000"/>
              </a:srgbClr>
            </a:outerShdw>
          </a:effectLst>
        </p:spPr>
        <p:txBody>
          <a:bodyPr/>
          <a:lstStyle/>
          <a:p>
            <a:endParaRPr lang="en-US"/>
          </a:p>
        </p:txBody>
      </p:sp>
      <p:sp>
        <p:nvSpPr>
          <p:cNvPr id="17" name="Text 15"/>
          <p:cNvSpPr/>
          <p:nvPr/>
        </p:nvSpPr>
        <p:spPr>
          <a:xfrm>
            <a:off x="14557995" y="6015930"/>
            <a:ext cx="457200" cy="485775"/>
          </a:xfrm>
          <a:prstGeom prst="rect">
            <a:avLst/>
          </a:prstGeom>
          <a:noFill/>
          <a:ln/>
        </p:spPr>
        <p:txBody>
          <a:bodyPr wrap="square" lIns="0" tIns="0" rIns="0" bIns="0" rtlCol="0" anchor="t">
            <a:normAutofit lnSpcReduction="10000"/>
          </a:bodyPr>
          <a:lstStyle/>
          <a:p>
            <a:pPr marL="0" indent="0" algn="l">
              <a:lnSpc>
                <a:spcPct val="115000"/>
              </a:lnSpc>
              <a:buNone/>
            </a:pPr>
            <a:r>
              <a:rPr lang="en-US" sz="3000" b="1">
                <a:solidFill>
                  <a:srgbClr val="141414"/>
                </a:solidFill>
                <a:latin typeface="Avenir" pitchFamily="34" charset="0"/>
                <a:ea typeface="-apple-system" pitchFamily="34" charset="-122"/>
                <a:cs typeface="-apple-system" pitchFamily="34" charset="-120"/>
              </a:rPr>
              <a:t>📝</a:t>
            </a:r>
            <a:endParaRPr lang="en-US" sz="3000" dirty="0"/>
          </a:p>
        </p:txBody>
      </p:sp>
      <p:sp>
        <p:nvSpPr>
          <p:cNvPr id="18" name="Text 16"/>
          <p:cNvSpPr/>
          <p:nvPr/>
        </p:nvSpPr>
        <p:spPr>
          <a:xfrm>
            <a:off x="14557995" y="6454080"/>
            <a:ext cx="2114401" cy="923925"/>
          </a:xfrm>
          <a:prstGeom prst="rect">
            <a:avLst/>
          </a:prstGeom>
          <a:noFill/>
          <a:ln/>
        </p:spPr>
        <p:txBody>
          <a:bodyPr wrap="square" lIns="0" tIns="0" rIns="0" bIns="0" rtlCol="0" anchor="t">
            <a:normAutofit fontScale="92500" lnSpcReduction="10000"/>
          </a:bodyPr>
          <a:lstStyle/>
          <a:p>
            <a:pPr marL="0" indent="0" algn="l">
              <a:lnSpc>
                <a:spcPct val="115000"/>
              </a:lnSpc>
              <a:buNone/>
            </a:pPr>
            <a:r>
              <a:rPr lang="en-US" sz="3000" b="1">
                <a:solidFill>
                  <a:srgbClr val="141414"/>
                </a:solidFill>
                <a:latin typeface="Avenir" pitchFamily="34" charset="0"/>
                <a:ea typeface="-apple-system" pitchFamily="34" charset="-122"/>
                <a:cs typeface="-apple-system" pitchFamily="34" charset="-120"/>
              </a:rPr>
              <a:t>The client's RFP</a:t>
            </a:r>
            <a:endParaRPr lang="en-US" sz="3000" dirty="0"/>
          </a:p>
        </p:txBody>
      </p:sp>
      <p:sp>
        <p:nvSpPr>
          <p:cNvPr id="19" name="Text 17"/>
          <p:cNvSpPr/>
          <p:nvPr/>
        </p:nvSpPr>
        <p:spPr>
          <a:xfrm>
            <a:off x="952500" y="8972550"/>
            <a:ext cx="16874490" cy="400050"/>
          </a:xfrm>
          <a:prstGeom prst="rect">
            <a:avLst/>
          </a:prstGeom>
          <a:noFill/>
          <a:ln/>
        </p:spPr>
        <p:txBody>
          <a:bodyPr wrap="square" lIns="25400" tIns="25400" rIns="25400" bIns="25400" rtlCol="0" anchor="t">
            <a:normAutofit lnSpcReduction="10000"/>
          </a:bodyPr>
          <a:lstStyle/>
          <a:p>
            <a:pPr marL="0" indent="0" algn="l">
              <a:buNone/>
            </a:pPr>
            <a:r>
              <a:rPr lang="en-US" sz="2400" b="1">
                <a:solidFill>
                  <a:srgbClr val="141414">
                    <a:alpha val="55000"/>
                  </a:srgbClr>
                </a:solidFill>
                <a:latin typeface="Avenir" pitchFamily="34" charset="0"/>
                <a:ea typeface="-apple-system" pitchFamily="34" charset="-122"/>
                <a:cs typeface="-apple-system" pitchFamily="34" charset="-120"/>
              </a:rPr>
              <a:t>Drag it all into the chat. Don't organize it first. That's the AI's job.</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6">
    <p:bg>
      <p:bgPr>
        <a:solidFill>
          <a:srgbClr val="F7F4EE"/>
        </a:solidFill>
        <a:effectLst/>
      </p:bgPr>
    </p:bg>
    <p:spTree>
      <p:nvGrpSpPr>
        <p:cNvPr id="1" name=""/>
        <p:cNvGrpSpPr/>
        <p:nvPr/>
      </p:nvGrpSpPr>
      <p:grpSpPr>
        <a:xfrm>
          <a:off x="0" y="0"/>
          <a:ext cx="0" cy="0"/>
          <a:chOff x="0" y="0"/>
          <a:chExt cx="0" cy="0"/>
        </a:xfrm>
      </p:grpSpPr>
      <p:sp>
        <p:nvSpPr>
          <p:cNvPr id="3" name="Shape 1"/>
          <p:cNvSpPr/>
          <p:nvPr/>
        </p:nvSpPr>
        <p:spPr>
          <a:xfrm>
            <a:off x="952500" y="2694756"/>
            <a:ext cx="16383000" cy="4964162"/>
          </a:xfrm>
          <a:prstGeom prst="roundRect">
            <a:avLst>
              <a:gd name="adj" fmla="val 3070"/>
            </a:avLst>
          </a:prstGeom>
          <a:solidFill>
            <a:srgbClr val="FFFFFF"/>
          </a:solidFill>
          <a:ln w="19050">
            <a:solidFill>
              <a:srgbClr val="141414"/>
            </a:solidFill>
            <a:prstDash val="solid"/>
          </a:ln>
          <a:effectLst>
            <a:outerShdw blurRad="101600" dist="215526" dir="2700000" algn="bl" rotWithShape="0">
              <a:srgbClr val="008EAA">
                <a:alpha val="100000"/>
              </a:srgbClr>
            </a:outerShdw>
          </a:effectLst>
        </p:spPr>
        <p:txBody>
          <a:bodyPr/>
          <a:lstStyle/>
          <a:p>
            <a:endParaRPr lang="en-US"/>
          </a:p>
        </p:txBody>
      </p:sp>
      <p:sp>
        <p:nvSpPr>
          <p:cNvPr id="4" name="Text 2"/>
          <p:cNvSpPr/>
          <p:nvPr/>
        </p:nvSpPr>
        <p:spPr>
          <a:xfrm>
            <a:off x="1581150" y="3171006"/>
            <a:ext cx="15579471" cy="4049762"/>
          </a:xfrm>
          <a:prstGeom prst="rect">
            <a:avLst/>
          </a:prstGeom>
          <a:noFill/>
          <a:ln/>
        </p:spPr>
        <p:txBody>
          <a:bodyPr wrap="square" lIns="25400" tIns="25400" rIns="25400" bIns="25400" rtlCol="0" anchor="t">
            <a:normAutofit/>
          </a:bodyPr>
          <a:lstStyle/>
          <a:p>
            <a:pPr marL="0" indent="0" algn="l">
              <a:lnSpc>
                <a:spcPct val="130000"/>
              </a:lnSpc>
              <a:buNone/>
            </a:pPr>
            <a:r>
              <a:rPr lang="en-US" sz="4050" b="1" kern="0" spc="-40" dirty="0">
                <a:solidFill>
                  <a:srgbClr val="141414"/>
                </a:solidFill>
                <a:latin typeface="Avenir" pitchFamily="34" charset="0"/>
                <a:ea typeface="JetBrains Mono" pitchFamily="34" charset="-122"/>
                <a:cs typeface="JetBrains Mono" pitchFamily="34" charset="-120"/>
              </a:rPr>
              <a:t>"I need to write a </a:t>
            </a:r>
            <a:r>
              <a:rPr lang="en-US" sz="4050" b="1" kern="0" spc="-40" dirty="0">
                <a:solidFill>
                  <a:srgbClr val="141414"/>
                </a:solidFill>
                <a:highlight>
                  <a:srgbClr val="00FFFF"/>
                </a:highlight>
                <a:latin typeface="Avenir" pitchFamily="34" charset="0"/>
                <a:ea typeface="JetBrains Mono" pitchFamily="34" charset="-122"/>
                <a:cs typeface="JetBrains Mono" pitchFamily="34" charset="-120"/>
              </a:rPr>
              <a:t>debrief / proposal / report </a:t>
            </a:r>
            <a:r>
              <a:rPr lang="en-US" sz="4050" b="1" kern="0" spc="-40" dirty="0">
                <a:solidFill>
                  <a:srgbClr val="141414"/>
                </a:solidFill>
                <a:latin typeface="Avenir" pitchFamily="34" charset="0"/>
                <a:ea typeface="JetBrains Mono" pitchFamily="34" charset="-122"/>
                <a:cs typeface="JetBrains Mono" pitchFamily="34" charset="-120"/>
              </a:rPr>
              <a:t>and I have </a:t>
            </a:r>
            <a:r>
              <a:rPr lang="en-US" sz="4050" b="1" kern="0" spc="-40" dirty="0">
                <a:solidFill>
                  <a:srgbClr val="141414"/>
                </a:solidFill>
                <a:highlight>
                  <a:srgbClr val="00FFFF"/>
                </a:highlight>
                <a:latin typeface="Avenir" pitchFamily="34" charset="0"/>
                <a:ea typeface="JetBrains Mono" pitchFamily="34" charset="-122"/>
                <a:cs typeface="JetBrains Mono" pitchFamily="34" charset="-120"/>
              </a:rPr>
              <a:t>notes / a transcript / scattered info</a:t>
            </a:r>
            <a:r>
              <a:rPr lang="en-US" sz="4050" b="1" kern="0" spc="-40" dirty="0">
                <a:solidFill>
                  <a:srgbClr val="141414"/>
                </a:solidFill>
                <a:latin typeface="Avenir" pitchFamily="34" charset="0"/>
                <a:ea typeface="JetBrains Mono" pitchFamily="34" charset="-122"/>
                <a:cs typeface="JetBrains Mono" pitchFamily="34" charset="-120"/>
              </a:rPr>
              <a:t>. Ask me clarifying questions until you're </a:t>
            </a:r>
            <a:r>
              <a:rPr lang="en-US" sz="4050" b="1" kern="0" spc="-40" dirty="0">
                <a:solidFill>
                  <a:srgbClr val="141414"/>
                </a:solidFill>
                <a:highlight>
                  <a:srgbClr val="00FFFF"/>
                </a:highlight>
                <a:latin typeface="Avenir" pitchFamily="34" charset="0"/>
                <a:ea typeface="JetBrains Mono" pitchFamily="34" charset="-122"/>
                <a:cs typeface="JetBrains Mono" pitchFamily="34" charset="-120"/>
              </a:rPr>
              <a:t>95% confident</a:t>
            </a:r>
            <a:r>
              <a:rPr lang="en-US" sz="4050" b="1" kern="0" spc="-40" dirty="0">
                <a:solidFill>
                  <a:srgbClr val="141414"/>
                </a:solidFill>
                <a:latin typeface="Avenir" pitchFamily="34" charset="0"/>
                <a:ea typeface="JetBrains Mono" pitchFamily="34" charset="-122"/>
                <a:cs typeface="JetBrains Mono" pitchFamily="34" charset="-120"/>
              </a:rPr>
              <a:t> you can complete the task successfully."</a:t>
            </a:r>
            <a:endParaRPr lang="en-US" sz="4050" dirty="0"/>
          </a:p>
        </p:txBody>
      </p:sp>
      <p:sp>
        <p:nvSpPr>
          <p:cNvPr id="6" name="Text 0">
            <a:extLst>
              <a:ext uri="{FF2B5EF4-FFF2-40B4-BE49-F238E27FC236}">
                <a16:creationId xmlns:a16="http://schemas.microsoft.com/office/drawing/2014/main" id="{8B545FD2-E9A0-4DFD-4311-3BB63FF56F0E}"/>
              </a:ext>
            </a:extLst>
          </p:cNvPr>
          <p:cNvSpPr/>
          <p:nvPr/>
        </p:nvSpPr>
        <p:spPr>
          <a:xfrm>
            <a:off x="952500" y="952500"/>
            <a:ext cx="16874490"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96" dirty="0">
                <a:solidFill>
                  <a:srgbClr val="008EAA"/>
                </a:solidFill>
                <a:latin typeface="Avenir" pitchFamily="34" charset="0"/>
                <a:ea typeface="-apple-system" pitchFamily="34" charset="-122"/>
                <a:cs typeface="-apple-system" pitchFamily="34" charset="-120"/>
              </a:rPr>
              <a:t>STEP </a:t>
            </a:r>
            <a:r>
              <a:rPr lang="en-US" b="1" kern="0" spc="396" dirty="0">
                <a:solidFill>
                  <a:srgbClr val="008EAA"/>
                </a:solidFill>
                <a:latin typeface="Avenir" pitchFamily="34" charset="0"/>
                <a:ea typeface="-apple-system" pitchFamily="34" charset="-122"/>
                <a:cs typeface="-apple-system" pitchFamily="34" charset="-120"/>
              </a:rPr>
              <a:t>TWO</a:t>
            </a:r>
            <a:endParaRPr lang="en-US" sz="1800" dirty="0"/>
          </a:p>
        </p:txBody>
      </p:sp>
      <p:sp>
        <p:nvSpPr>
          <p:cNvPr id="7" name="Text 1">
            <a:extLst>
              <a:ext uri="{FF2B5EF4-FFF2-40B4-BE49-F238E27FC236}">
                <a16:creationId xmlns:a16="http://schemas.microsoft.com/office/drawing/2014/main" id="{D32495E6-13B0-9F91-9F86-F1014AE464ED}"/>
              </a:ext>
            </a:extLst>
          </p:cNvPr>
          <p:cNvSpPr/>
          <p:nvPr/>
        </p:nvSpPr>
        <p:spPr>
          <a:xfrm>
            <a:off x="952500" y="1582303"/>
            <a:ext cx="16874490" cy="906735"/>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7200" b="1" kern="0" spc="-180" dirty="0">
                <a:solidFill>
                  <a:srgbClr val="141414"/>
                </a:solidFill>
                <a:latin typeface="Catamaran" pitchFamily="34" charset="0"/>
                <a:ea typeface="-apple-system" pitchFamily="34" charset="-122"/>
                <a:cs typeface="-apple-system" pitchFamily="34" charset="-120"/>
              </a:rPr>
              <a:t>Then </a:t>
            </a:r>
            <a:r>
              <a:rPr lang="en-US" sz="7200" b="1" kern="0" spc="-180" dirty="0">
                <a:solidFill>
                  <a:srgbClr val="008EAA"/>
                </a:solidFill>
                <a:latin typeface="Catamaran" pitchFamily="34" charset="0"/>
                <a:ea typeface="-apple-system" pitchFamily="34" charset="-122"/>
                <a:cs typeface="-apple-system" pitchFamily="34" charset="-120"/>
              </a:rPr>
              <a:t>write:</a:t>
            </a:r>
            <a:endParaRPr lang="en-US" sz="7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141414"/>
        </a:solidFill>
        <a:effectLst/>
      </p:bgPr>
    </p:bg>
    <p:spTree>
      <p:nvGrpSpPr>
        <p:cNvPr id="1" name=""/>
        <p:cNvGrpSpPr/>
        <p:nvPr/>
      </p:nvGrpSpPr>
      <p:grpSpPr>
        <a:xfrm>
          <a:off x="0" y="0"/>
          <a:ext cx="0" cy="0"/>
          <a:chOff x="0" y="0"/>
          <a:chExt cx="0" cy="0"/>
        </a:xfrm>
      </p:grpSpPr>
      <p:sp>
        <p:nvSpPr>
          <p:cNvPr id="2" name="Text 0"/>
          <p:cNvSpPr/>
          <p:nvPr/>
        </p:nvSpPr>
        <p:spPr>
          <a:xfrm>
            <a:off x="952500" y="2624138"/>
            <a:ext cx="16874490" cy="328613"/>
          </a:xfrm>
          <a:prstGeom prst="rect">
            <a:avLst/>
          </a:prstGeom>
          <a:noFill/>
          <a:ln/>
        </p:spPr>
        <p:txBody>
          <a:bodyPr wrap="square" lIns="25400" tIns="25400" rIns="25400" bIns="25400" rtlCol="0" anchor="t">
            <a:normAutofit lnSpcReduction="10000"/>
          </a:bodyPr>
          <a:lstStyle/>
          <a:p>
            <a:pPr marL="0" indent="0" algn="l">
              <a:buNone/>
            </a:pPr>
            <a:r>
              <a:rPr lang="en-US" sz="1950" b="1" kern="0" spc="429">
                <a:solidFill>
                  <a:srgbClr val="008EAA"/>
                </a:solidFill>
                <a:latin typeface="Avenir" pitchFamily="34" charset="0"/>
                <a:ea typeface="-apple-system" pitchFamily="34" charset="-122"/>
                <a:cs typeface="-apple-system" pitchFamily="34" charset="-120"/>
              </a:rPr>
              <a:t>TAKE THESE WITH YOU</a:t>
            </a:r>
            <a:endParaRPr lang="en-US" sz="1950" dirty="0"/>
          </a:p>
        </p:txBody>
      </p:sp>
      <p:sp>
        <p:nvSpPr>
          <p:cNvPr id="3" name="Text 1"/>
          <p:cNvSpPr/>
          <p:nvPr/>
        </p:nvSpPr>
        <p:spPr>
          <a:xfrm>
            <a:off x="952500" y="3295650"/>
            <a:ext cx="16874490" cy="3467100"/>
          </a:xfrm>
          <a:prstGeom prst="rect">
            <a:avLst/>
          </a:prstGeom>
          <a:noFill/>
          <a:ln/>
        </p:spPr>
        <p:txBody>
          <a:bodyPr wrap="square" lIns="25400" tIns="25400" rIns="25400" bIns="25400" rtlCol="0" anchor="t">
            <a:normAutofit/>
          </a:bodyPr>
          <a:lstStyle/>
          <a:p>
            <a:pPr marL="0" indent="0" algn="l">
              <a:lnSpc>
                <a:spcPct val="90000"/>
              </a:lnSpc>
              <a:buNone/>
            </a:pPr>
            <a:r>
              <a:rPr lang="en-US" sz="15000" b="1" kern="0" spc="-525">
                <a:solidFill>
                  <a:srgbClr val="F7F4EE"/>
                </a:solidFill>
                <a:latin typeface="Catamaran" pitchFamily="34" charset="0"/>
                <a:ea typeface="-apple-system" pitchFamily="34" charset="-122"/>
                <a:cs typeface="-apple-system" pitchFamily="34" charset="-120"/>
              </a:rPr>
              <a:t>Starter prompts.</a:t>
            </a:r>
            <a:endParaRPr lang="en-US" sz="15000" dirty="0"/>
          </a:p>
        </p:txBody>
      </p:sp>
      <p:sp>
        <p:nvSpPr>
          <p:cNvPr id="4" name="Text 2"/>
          <p:cNvSpPr/>
          <p:nvPr/>
        </p:nvSpPr>
        <p:spPr>
          <a:xfrm>
            <a:off x="952500" y="7258050"/>
            <a:ext cx="13735050" cy="442913"/>
          </a:xfrm>
          <a:prstGeom prst="rect">
            <a:avLst/>
          </a:prstGeom>
          <a:noFill/>
          <a:ln/>
        </p:spPr>
        <p:txBody>
          <a:bodyPr wrap="square" lIns="25400" tIns="25400" rIns="25400" bIns="25400" rtlCol="0" anchor="t">
            <a:normAutofit lnSpcReduction="10000"/>
          </a:bodyPr>
          <a:lstStyle/>
          <a:p>
            <a:pPr marL="0" indent="0" algn="l">
              <a:buNone/>
            </a:pPr>
            <a:r>
              <a:rPr lang="en-US" sz="2700" b="1" dirty="0">
                <a:solidFill>
                  <a:srgbClr val="F7F4EE">
                    <a:alpha val="82000"/>
                  </a:srgbClr>
                </a:solidFill>
                <a:latin typeface="Avenir" pitchFamily="34" charset="0"/>
                <a:ea typeface="-apple-system" pitchFamily="34" charset="-122"/>
                <a:cs typeface="-apple-system" pitchFamily="34" charset="-120"/>
              </a:rPr>
              <a:t>Copy-paste ready. Next 7 slides.</a:t>
            </a:r>
            <a:endParaRPr lang="en-US" sz="2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a:extLst>
            <a:ext uri="{FF2B5EF4-FFF2-40B4-BE49-F238E27FC236}">
              <a16:creationId xmlns:a16="http://schemas.microsoft.com/office/drawing/2014/main" id="{6C01A64F-0F07-E987-AA56-4A8874433B2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01F0F04-1ACC-4FAB-052F-7F8C2926A2D4}"/>
              </a:ext>
            </a:extLst>
          </p:cNvPr>
          <p:cNvSpPr/>
          <p:nvPr/>
        </p:nvSpPr>
        <p:spPr>
          <a:xfrm>
            <a:off x="952500" y="2216497"/>
            <a:ext cx="16874490"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96">
                <a:solidFill>
                  <a:srgbClr val="008EAA"/>
                </a:solidFill>
                <a:latin typeface="Avenir" pitchFamily="34" charset="0"/>
                <a:ea typeface="-apple-system" pitchFamily="34" charset="-122"/>
                <a:cs typeface="-apple-system" pitchFamily="34" charset="-120"/>
              </a:rPr>
              <a:t>THE UNIVERSAL STARTER — IF YOU ONLY REMEMBER ONE</a:t>
            </a:r>
            <a:endParaRPr lang="en-US" sz="1800" dirty="0"/>
          </a:p>
        </p:txBody>
      </p:sp>
      <p:sp>
        <p:nvSpPr>
          <p:cNvPr id="3" name="Shape 1">
            <a:extLst>
              <a:ext uri="{FF2B5EF4-FFF2-40B4-BE49-F238E27FC236}">
                <a16:creationId xmlns:a16="http://schemas.microsoft.com/office/drawing/2014/main" id="{94A7C556-F59D-E972-941C-3E5D6B6AA1F6}"/>
              </a:ext>
            </a:extLst>
          </p:cNvPr>
          <p:cNvSpPr/>
          <p:nvPr/>
        </p:nvSpPr>
        <p:spPr>
          <a:xfrm>
            <a:off x="952500" y="3054697"/>
            <a:ext cx="16383000" cy="4244280"/>
          </a:xfrm>
          <a:prstGeom prst="roundRect">
            <a:avLst>
              <a:gd name="adj" fmla="val 3591"/>
            </a:avLst>
          </a:prstGeom>
          <a:solidFill>
            <a:srgbClr val="141414"/>
          </a:solidFill>
          <a:ln/>
        </p:spPr>
        <p:txBody>
          <a:bodyPr/>
          <a:lstStyle/>
          <a:p>
            <a:endParaRPr lang="en-US"/>
          </a:p>
        </p:txBody>
      </p:sp>
      <p:sp>
        <p:nvSpPr>
          <p:cNvPr id="4" name="Shape 2">
            <a:extLst>
              <a:ext uri="{FF2B5EF4-FFF2-40B4-BE49-F238E27FC236}">
                <a16:creationId xmlns:a16="http://schemas.microsoft.com/office/drawing/2014/main" id="{0A0153CA-59E4-6D6C-5628-C1302D80AECB}"/>
              </a:ext>
            </a:extLst>
          </p:cNvPr>
          <p:cNvSpPr/>
          <p:nvPr/>
        </p:nvSpPr>
        <p:spPr>
          <a:xfrm>
            <a:off x="1524000" y="2787997"/>
            <a:ext cx="2646238" cy="457200"/>
          </a:xfrm>
          <a:prstGeom prst="rect">
            <a:avLst/>
          </a:prstGeom>
          <a:solidFill>
            <a:srgbClr val="008EAA"/>
          </a:solidFill>
          <a:ln/>
        </p:spPr>
        <p:txBody>
          <a:bodyPr/>
          <a:lstStyle/>
          <a:p>
            <a:endParaRPr lang="en-US"/>
          </a:p>
        </p:txBody>
      </p:sp>
      <p:sp>
        <p:nvSpPr>
          <p:cNvPr id="5" name="Text 3">
            <a:extLst>
              <a:ext uri="{FF2B5EF4-FFF2-40B4-BE49-F238E27FC236}">
                <a16:creationId xmlns:a16="http://schemas.microsoft.com/office/drawing/2014/main" id="{A222440E-F9A6-65CB-87F7-02AF291268F5}"/>
              </a:ext>
            </a:extLst>
          </p:cNvPr>
          <p:cNvSpPr/>
          <p:nvPr/>
        </p:nvSpPr>
        <p:spPr>
          <a:xfrm>
            <a:off x="1733550" y="2883247"/>
            <a:ext cx="2306526"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24">
                <a:solidFill>
                  <a:srgbClr val="FFFFFF"/>
                </a:solidFill>
                <a:latin typeface="Avenir" pitchFamily="34" charset="0"/>
                <a:ea typeface="-apple-system" pitchFamily="34" charset="-122"/>
                <a:cs typeface="-apple-system" pitchFamily="34" charset="-120"/>
              </a:rPr>
              <a:t>SAVE THIS ONE</a:t>
            </a:r>
            <a:endParaRPr lang="en-US" sz="1800" dirty="0"/>
          </a:p>
        </p:txBody>
      </p:sp>
      <p:sp>
        <p:nvSpPr>
          <p:cNvPr id="6" name="Text 4">
            <a:extLst>
              <a:ext uri="{FF2B5EF4-FFF2-40B4-BE49-F238E27FC236}">
                <a16:creationId xmlns:a16="http://schemas.microsoft.com/office/drawing/2014/main" id="{AEE5CA5E-2D8C-0163-B6F9-2FA20F7E87DF}"/>
              </a:ext>
            </a:extLst>
          </p:cNvPr>
          <p:cNvSpPr/>
          <p:nvPr/>
        </p:nvSpPr>
        <p:spPr>
          <a:xfrm>
            <a:off x="1714500" y="3740497"/>
            <a:ext cx="15304770" cy="2910780"/>
          </a:xfrm>
          <a:prstGeom prst="rect">
            <a:avLst/>
          </a:prstGeom>
          <a:noFill/>
          <a:ln/>
        </p:spPr>
        <p:txBody>
          <a:bodyPr wrap="square" lIns="25400" tIns="25400" rIns="25400" bIns="25400" rtlCol="0" anchor="t">
            <a:normAutofit/>
          </a:bodyPr>
          <a:lstStyle/>
          <a:p>
            <a:pPr marL="0" indent="0" algn="l">
              <a:lnSpc>
                <a:spcPct val="130000"/>
              </a:lnSpc>
              <a:buNone/>
            </a:pPr>
            <a:r>
              <a:rPr lang="en-US" sz="4350" b="1" kern="0" spc="-43">
                <a:solidFill>
                  <a:srgbClr val="F7F4EE"/>
                </a:solidFill>
                <a:latin typeface="Avenir" pitchFamily="34" charset="0"/>
                <a:ea typeface="JetBrains Mono" pitchFamily="34" charset="-122"/>
                <a:cs typeface="JetBrains Mono" pitchFamily="34" charset="-120"/>
              </a:rPr>
              <a:t>"Here's what I'm dealing with. I'm not sure what I need yet. Can you help me figure out </a:t>
            </a:r>
            <a:r>
              <a:rPr lang="en-US" sz="4350" b="1" kern="0" spc="-43">
                <a:solidFill>
                  <a:srgbClr val="008EAA"/>
                </a:solidFill>
                <a:latin typeface="Avenir" pitchFamily="34" charset="0"/>
                <a:ea typeface="JetBrains Mono" pitchFamily="34" charset="-122"/>
                <a:cs typeface="JetBrains Mono" pitchFamily="34" charset="-120"/>
              </a:rPr>
              <a:t>where to start?</a:t>
            </a:r>
            <a:r>
              <a:rPr lang="en-US" sz="4350" b="1" kern="0" spc="-43">
                <a:solidFill>
                  <a:srgbClr val="F7F4EE"/>
                </a:solidFill>
                <a:latin typeface="Avenir" pitchFamily="34" charset="0"/>
                <a:ea typeface="JetBrains Mono" pitchFamily="34" charset="-122"/>
                <a:cs typeface="JetBrains Mono" pitchFamily="34" charset="-120"/>
              </a:rPr>
              <a:t>"</a:t>
            </a:r>
            <a:endParaRPr lang="en-US" sz="4350" dirty="0"/>
          </a:p>
        </p:txBody>
      </p:sp>
      <p:sp>
        <p:nvSpPr>
          <p:cNvPr id="7" name="Text 5">
            <a:extLst>
              <a:ext uri="{FF2B5EF4-FFF2-40B4-BE49-F238E27FC236}">
                <a16:creationId xmlns:a16="http://schemas.microsoft.com/office/drawing/2014/main" id="{A29091D7-B6AA-26F5-C457-E8E21EFBF31E}"/>
              </a:ext>
            </a:extLst>
          </p:cNvPr>
          <p:cNvSpPr/>
          <p:nvPr/>
        </p:nvSpPr>
        <p:spPr>
          <a:xfrm>
            <a:off x="952500" y="7756178"/>
            <a:ext cx="16874490" cy="352425"/>
          </a:xfrm>
          <a:prstGeom prst="rect">
            <a:avLst/>
          </a:prstGeom>
          <a:noFill/>
          <a:ln/>
        </p:spPr>
        <p:txBody>
          <a:bodyPr wrap="square" lIns="25400" tIns="25400" rIns="25400" bIns="25400" rtlCol="0" anchor="t">
            <a:normAutofit lnSpcReduction="10000"/>
          </a:bodyPr>
          <a:lstStyle/>
          <a:p>
            <a:pPr marL="0" indent="0" algn="l">
              <a:buNone/>
            </a:pPr>
            <a:r>
              <a:rPr lang="en-US" sz="2100" b="1" dirty="0">
                <a:solidFill>
                  <a:srgbClr val="141414">
                    <a:alpha val="55000"/>
                  </a:srgbClr>
                </a:solidFill>
                <a:latin typeface="Avenir" pitchFamily="34" charset="0"/>
                <a:ea typeface="-apple-system" pitchFamily="34" charset="-122"/>
                <a:cs typeface="-apple-system" pitchFamily="34" charset="-120"/>
              </a:rPr>
              <a:t>Prompt 01 of 07</a:t>
            </a:r>
            <a:endParaRPr lang="en-US" sz="2100" dirty="0"/>
          </a:p>
        </p:txBody>
      </p:sp>
    </p:spTree>
    <p:extLst>
      <p:ext uri="{BB962C8B-B14F-4D97-AF65-F5344CB8AC3E}">
        <p14:creationId xmlns:p14="http://schemas.microsoft.com/office/powerpoint/2010/main" val="14844121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952500" y="2190824"/>
            <a:ext cx="16874490"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96">
                <a:solidFill>
                  <a:srgbClr val="008EAA"/>
                </a:solidFill>
                <a:latin typeface="Avenir" pitchFamily="34" charset="0"/>
                <a:ea typeface="-apple-system" pitchFamily="34" charset="-122"/>
                <a:cs typeface="-apple-system" pitchFamily="34" charset="-120"/>
              </a:rPr>
              <a:t>WHEN YOU'RE STARTING FROM SCRATCH</a:t>
            </a:r>
            <a:endParaRPr lang="en-US" sz="1800" dirty="0"/>
          </a:p>
        </p:txBody>
      </p:sp>
      <p:sp>
        <p:nvSpPr>
          <p:cNvPr id="3" name="Shape 1"/>
          <p:cNvSpPr/>
          <p:nvPr/>
        </p:nvSpPr>
        <p:spPr>
          <a:xfrm>
            <a:off x="952500" y="3029024"/>
            <a:ext cx="16383000" cy="4295552"/>
          </a:xfrm>
          <a:prstGeom prst="roundRect">
            <a:avLst>
              <a:gd name="adj" fmla="val 3548"/>
            </a:avLst>
          </a:prstGeom>
          <a:solidFill>
            <a:srgbClr val="FFFFFF"/>
          </a:solidFill>
          <a:ln w="19050">
            <a:solidFill>
              <a:srgbClr val="141414"/>
            </a:solidFill>
            <a:prstDash val="solid"/>
          </a:ln>
          <a:effectLst>
            <a:outerShdw blurRad="101600" dist="215526" dir="2700000" algn="bl" rotWithShape="0">
              <a:srgbClr val="008EAA">
                <a:alpha val="100000"/>
              </a:srgbClr>
            </a:outerShdw>
          </a:effectLst>
        </p:spPr>
        <p:txBody>
          <a:bodyPr/>
          <a:lstStyle/>
          <a:p>
            <a:endParaRPr lang="en-US"/>
          </a:p>
        </p:txBody>
      </p:sp>
      <p:sp>
        <p:nvSpPr>
          <p:cNvPr id="4" name="Text 2"/>
          <p:cNvSpPr/>
          <p:nvPr/>
        </p:nvSpPr>
        <p:spPr>
          <a:xfrm>
            <a:off x="1581150" y="3505274"/>
            <a:ext cx="15579471" cy="3381152"/>
          </a:xfrm>
          <a:prstGeom prst="rect">
            <a:avLst/>
          </a:prstGeom>
          <a:noFill/>
          <a:ln/>
        </p:spPr>
        <p:txBody>
          <a:bodyPr wrap="square" lIns="25400" tIns="25400" rIns="25400" bIns="25400" rtlCol="0" anchor="t">
            <a:normAutofit/>
          </a:bodyPr>
          <a:lstStyle/>
          <a:p>
            <a:pPr marL="0" indent="0" algn="l">
              <a:lnSpc>
                <a:spcPct val="130000"/>
              </a:lnSpc>
              <a:buNone/>
            </a:pPr>
            <a:r>
              <a:rPr lang="en-US" sz="4050" b="1" kern="0" spc="-40" dirty="0">
                <a:solidFill>
                  <a:srgbClr val="141414"/>
                </a:solidFill>
                <a:latin typeface="Avenir" pitchFamily="34" charset="0"/>
                <a:ea typeface="JetBrains Mono" pitchFamily="34" charset="-122"/>
                <a:cs typeface="JetBrains Mono" pitchFamily="34" charset="-120"/>
              </a:rPr>
              <a:t>"I'm working on </a:t>
            </a:r>
            <a:r>
              <a:rPr lang="en-US" sz="4050" b="1" kern="0" spc="-40" dirty="0">
                <a:solidFill>
                  <a:srgbClr val="141414"/>
                </a:solidFill>
                <a:highlight>
                  <a:srgbClr val="00FFFF"/>
                </a:highlight>
                <a:latin typeface="Avenir" pitchFamily="34" charset="0"/>
                <a:ea typeface="JetBrains Mono" pitchFamily="34" charset="-122"/>
                <a:cs typeface="JetBrains Mono" pitchFamily="34" charset="-120"/>
              </a:rPr>
              <a:t>X</a:t>
            </a:r>
            <a:r>
              <a:rPr lang="en-US" sz="4050" b="1" kern="0" spc="-40" dirty="0">
                <a:solidFill>
                  <a:srgbClr val="141414"/>
                </a:solidFill>
                <a:latin typeface="Avenir" pitchFamily="34" charset="0"/>
                <a:ea typeface="JetBrains Mono" pitchFamily="34" charset="-122"/>
                <a:cs typeface="JetBrains Mono" pitchFamily="34" charset="-120"/>
              </a:rPr>
              <a:t> and I don't know where to start. Can you ask me questions to help me figure out the right first step?"</a:t>
            </a:r>
            <a:endParaRPr lang="en-US" sz="4050" dirty="0"/>
          </a:p>
        </p:txBody>
      </p:sp>
      <p:sp>
        <p:nvSpPr>
          <p:cNvPr id="5" name="Text 3"/>
          <p:cNvSpPr/>
          <p:nvPr/>
        </p:nvSpPr>
        <p:spPr>
          <a:xfrm>
            <a:off x="952500" y="7781776"/>
            <a:ext cx="16874490" cy="352425"/>
          </a:xfrm>
          <a:prstGeom prst="rect">
            <a:avLst/>
          </a:prstGeom>
          <a:noFill/>
          <a:ln/>
        </p:spPr>
        <p:txBody>
          <a:bodyPr wrap="square" lIns="25400" tIns="25400" rIns="25400" bIns="25400" rtlCol="0" anchor="t">
            <a:normAutofit lnSpcReduction="10000"/>
          </a:bodyPr>
          <a:lstStyle/>
          <a:p>
            <a:r>
              <a:rPr lang="en-US" sz="2100" b="1" dirty="0">
                <a:solidFill>
                  <a:srgbClr val="141414">
                    <a:alpha val="55000"/>
                  </a:srgbClr>
                </a:solidFill>
                <a:latin typeface="Avenir" pitchFamily="34" charset="0"/>
                <a:ea typeface="-apple-system" pitchFamily="34" charset="-122"/>
                <a:cs typeface="-apple-system" pitchFamily="34" charset="-120"/>
              </a:rPr>
              <a:t>Prompt 02 of 07</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952500" y="2982292"/>
            <a:ext cx="16874490" cy="304800"/>
          </a:xfrm>
          <a:prstGeom prst="rect">
            <a:avLst/>
          </a:prstGeom>
          <a:noFill/>
          <a:ln/>
        </p:spPr>
        <p:txBody>
          <a:bodyPr wrap="square" lIns="25400" tIns="25400" rIns="25400" bIns="25400" rtlCol="0" anchor="t">
            <a:noAutofit/>
          </a:bodyPr>
          <a:lstStyle/>
          <a:p>
            <a:pPr marL="0" indent="0" algn="l">
              <a:buNone/>
            </a:pPr>
            <a:r>
              <a:rPr lang="en-US" sz="3500" b="1" kern="0" spc="396" dirty="0">
                <a:solidFill>
                  <a:srgbClr val="008EAA"/>
                </a:solidFill>
                <a:latin typeface="Avenir" pitchFamily="34" charset="0"/>
                <a:ea typeface="-apple-system" pitchFamily="34" charset="-122"/>
                <a:cs typeface="-apple-system" pitchFamily="34" charset="-120"/>
              </a:rPr>
              <a:t>THE BLIND-SPOT CHECK</a:t>
            </a:r>
            <a:endParaRPr lang="en-US" sz="3500" dirty="0"/>
          </a:p>
        </p:txBody>
      </p:sp>
      <p:sp>
        <p:nvSpPr>
          <p:cNvPr id="3" name="Shape 1"/>
          <p:cNvSpPr/>
          <p:nvPr/>
        </p:nvSpPr>
        <p:spPr>
          <a:xfrm>
            <a:off x="952500" y="3820492"/>
            <a:ext cx="15659100" cy="2712690"/>
          </a:xfrm>
          <a:prstGeom prst="roundRect">
            <a:avLst>
              <a:gd name="adj" fmla="val 5618"/>
            </a:avLst>
          </a:prstGeom>
          <a:solidFill>
            <a:srgbClr val="008EAA"/>
          </a:solidFill>
          <a:ln/>
        </p:spPr>
        <p:txBody>
          <a:bodyPr/>
          <a:lstStyle/>
          <a:p>
            <a:endParaRPr lang="en-US"/>
          </a:p>
        </p:txBody>
      </p:sp>
      <p:sp>
        <p:nvSpPr>
          <p:cNvPr id="4" name="Text 2"/>
          <p:cNvSpPr/>
          <p:nvPr/>
        </p:nvSpPr>
        <p:spPr>
          <a:xfrm>
            <a:off x="1638300" y="4353892"/>
            <a:ext cx="14716125" cy="1683990"/>
          </a:xfrm>
          <a:prstGeom prst="rect">
            <a:avLst/>
          </a:prstGeom>
          <a:noFill/>
          <a:ln/>
        </p:spPr>
        <p:txBody>
          <a:bodyPr wrap="square" lIns="25400" tIns="25400" rIns="25400" bIns="25400" rtlCol="0" anchor="t">
            <a:normAutofit fontScale="92500"/>
          </a:bodyPr>
          <a:lstStyle/>
          <a:p>
            <a:pPr marL="0" indent="0" algn="l">
              <a:lnSpc>
                <a:spcPct val="120000"/>
              </a:lnSpc>
              <a:buNone/>
            </a:pPr>
            <a:r>
              <a:rPr lang="en-US" sz="5400" b="1" kern="0" spc="-54">
                <a:solidFill>
                  <a:srgbClr val="FFFFFF"/>
                </a:solidFill>
                <a:latin typeface="Avenir" pitchFamily="34" charset="0"/>
                <a:ea typeface="JetBrains Mono" pitchFamily="34" charset="-122"/>
                <a:cs typeface="JetBrains Mono" pitchFamily="34" charset="-120"/>
              </a:rPr>
              <a:t>"What am I probably forgetting or underestimating?"</a:t>
            </a:r>
            <a:endParaRPr lang="en-US" sz="5400" dirty="0"/>
          </a:p>
        </p:txBody>
      </p:sp>
      <p:sp>
        <p:nvSpPr>
          <p:cNvPr id="5" name="Text 3"/>
          <p:cNvSpPr/>
          <p:nvPr/>
        </p:nvSpPr>
        <p:spPr>
          <a:xfrm>
            <a:off x="952500" y="6990383"/>
            <a:ext cx="16874490" cy="352425"/>
          </a:xfrm>
          <a:prstGeom prst="rect">
            <a:avLst/>
          </a:prstGeom>
          <a:noFill/>
          <a:ln/>
        </p:spPr>
        <p:txBody>
          <a:bodyPr wrap="square" lIns="25400" tIns="25400" rIns="25400" bIns="25400" rtlCol="0" anchor="t">
            <a:normAutofit lnSpcReduction="10000"/>
          </a:bodyPr>
          <a:lstStyle/>
          <a:p>
            <a:r>
              <a:rPr lang="en-US" sz="2100" b="1" dirty="0">
                <a:solidFill>
                  <a:srgbClr val="141414">
                    <a:alpha val="55000"/>
                  </a:srgbClr>
                </a:solidFill>
                <a:latin typeface="Avenir" pitchFamily="34" charset="0"/>
                <a:ea typeface="-apple-system" pitchFamily="34" charset="-122"/>
                <a:cs typeface="-apple-system" pitchFamily="34" charset="-120"/>
              </a:rPr>
              <a:t>Prompt 03 of 07</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0">
    <p:bg>
      <p:bgPr>
        <a:solidFill>
          <a:srgbClr val="F7F4EE"/>
        </a:solidFill>
        <a:effectLst/>
      </p:bgPr>
    </p:bg>
    <p:spTree>
      <p:nvGrpSpPr>
        <p:cNvPr id="1" name=""/>
        <p:cNvGrpSpPr/>
        <p:nvPr/>
      </p:nvGrpSpPr>
      <p:grpSpPr>
        <a:xfrm>
          <a:off x="0" y="0"/>
          <a:ext cx="0" cy="0"/>
          <a:chOff x="0" y="0"/>
          <a:chExt cx="0" cy="0"/>
        </a:xfrm>
      </p:grpSpPr>
      <p:sp>
        <p:nvSpPr>
          <p:cNvPr id="3" name="Shape 1"/>
          <p:cNvSpPr/>
          <p:nvPr/>
        </p:nvSpPr>
        <p:spPr>
          <a:xfrm>
            <a:off x="952500" y="3054697"/>
            <a:ext cx="16383000" cy="4244280"/>
          </a:xfrm>
          <a:prstGeom prst="roundRect">
            <a:avLst>
              <a:gd name="adj" fmla="val 3591"/>
            </a:avLst>
          </a:prstGeom>
          <a:solidFill>
            <a:srgbClr val="141414"/>
          </a:solidFill>
          <a:ln/>
        </p:spPr>
        <p:txBody>
          <a:bodyPr/>
          <a:lstStyle/>
          <a:p>
            <a:endParaRPr lang="en-US"/>
          </a:p>
        </p:txBody>
      </p:sp>
      <p:sp>
        <p:nvSpPr>
          <p:cNvPr id="4" name="Shape 2"/>
          <p:cNvSpPr/>
          <p:nvPr/>
        </p:nvSpPr>
        <p:spPr>
          <a:xfrm>
            <a:off x="1481470" y="2692748"/>
            <a:ext cx="8534400" cy="819150"/>
          </a:xfrm>
          <a:prstGeom prst="rect">
            <a:avLst/>
          </a:prstGeom>
          <a:solidFill>
            <a:srgbClr val="008EAA"/>
          </a:solidFill>
          <a:ln/>
        </p:spPr>
        <p:txBody>
          <a:bodyPr/>
          <a:lstStyle/>
          <a:p>
            <a:endParaRPr lang="en-US"/>
          </a:p>
        </p:txBody>
      </p:sp>
      <p:sp>
        <p:nvSpPr>
          <p:cNvPr id="5" name="Text 3"/>
          <p:cNvSpPr/>
          <p:nvPr/>
        </p:nvSpPr>
        <p:spPr>
          <a:xfrm>
            <a:off x="1733549" y="2749897"/>
            <a:ext cx="8087832" cy="819151"/>
          </a:xfrm>
          <a:prstGeom prst="rect">
            <a:avLst/>
          </a:prstGeom>
          <a:noFill/>
          <a:ln/>
        </p:spPr>
        <p:txBody>
          <a:bodyPr wrap="square" lIns="25400" tIns="25400" rIns="25400" bIns="25400" rtlCol="0" anchor="t">
            <a:noAutofit/>
          </a:bodyPr>
          <a:lstStyle/>
          <a:p>
            <a:r>
              <a:rPr lang="en-US" sz="3500" b="1" kern="0" spc="324" dirty="0">
                <a:solidFill>
                  <a:srgbClr val="FFFFFF"/>
                </a:solidFill>
                <a:latin typeface="Avenir" pitchFamily="34" charset="0"/>
                <a:ea typeface="-apple-system" pitchFamily="34" charset="-122"/>
                <a:cs typeface="-apple-system" pitchFamily="34" charset="-120"/>
              </a:rPr>
              <a:t>This one is brutal in the best way:</a:t>
            </a:r>
            <a:endParaRPr lang="en-US" sz="3500" dirty="0"/>
          </a:p>
        </p:txBody>
      </p:sp>
      <p:sp>
        <p:nvSpPr>
          <p:cNvPr id="6" name="Text 4"/>
          <p:cNvSpPr/>
          <p:nvPr/>
        </p:nvSpPr>
        <p:spPr>
          <a:xfrm>
            <a:off x="1737360" y="4102447"/>
            <a:ext cx="15304770" cy="2672655"/>
          </a:xfrm>
          <a:prstGeom prst="rect">
            <a:avLst/>
          </a:prstGeom>
          <a:noFill/>
          <a:ln/>
        </p:spPr>
        <p:txBody>
          <a:bodyPr wrap="square" lIns="25400" tIns="25400" rIns="25400" bIns="25400" rtlCol="0" anchor="t">
            <a:noAutofit/>
          </a:bodyPr>
          <a:lstStyle/>
          <a:p>
            <a:pPr>
              <a:lnSpc>
                <a:spcPct val="130000"/>
              </a:lnSpc>
            </a:pPr>
            <a:r>
              <a:rPr lang="en-US" sz="4000" b="1" dirty="0">
                <a:solidFill>
                  <a:schemeClr val="bg1"/>
                </a:solidFill>
                <a:latin typeface="Avenir" pitchFamily="34" charset="0"/>
                <a:ea typeface="-apple-system" pitchFamily="34" charset="-122"/>
              </a:rPr>
              <a:t>What would a top 0.1% person in this field think of this?</a:t>
            </a:r>
            <a:endParaRPr lang="en-US" sz="4000" dirty="0">
              <a:solidFill>
                <a:schemeClr val="bg1"/>
              </a:solidFill>
            </a:endParaRPr>
          </a:p>
        </p:txBody>
      </p:sp>
      <p:sp>
        <p:nvSpPr>
          <p:cNvPr id="7" name="Text 5"/>
          <p:cNvSpPr/>
          <p:nvPr/>
        </p:nvSpPr>
        <p:spPr>
          <a:xfrm>
            <a:off x="952500" y="7756178"/>
            <a:ext cx="16874490" cy="352425"/>
          </a:xfrm>
          <a:prstGeom prst="rect">
            <a:avLst/>
          </a:prstGeom>
          <a:noFill/>
          <a:ln/>
        </p:spPr>
        <p:txBody>
          <a:bodyPr wrap="square" lIns="25400" tIns="25400" rIns="25400" bIns="25400" rtlCol="0" anchor="t">
            <a:normAutofit lnSpcReduction="10000"/>
          </a:bodyPr>
          <a:lstStyle/>
          <a:p>
            <a:r>
              <a:rPr lang="en-US" sz="2100" b="1" dirty="0">
                <a:solidFill>
                  <a:srgbClr val="141414">
                    <a:alpha val="55000"/>
                  </a:srgbClr>
                </a:solidFill>
                <a:latin typeface="Avenir" pitchFamily="34" charset="0"/>
                <a:ea typeface="-apple-system" pitchFamily="34" charset="-122"/>
                <a:cs typeface="-apple-system" pitchFamily="34" charset="-120"/>
              </a:rPr>
              <a:t>Prompt 04 of 07</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952500" y="2624138"/>
            <a:ext cx="16874490" cy="304800"/>
          </a:xfrm>
          <a:prstGeom prst="rect">
            <a:avLst/>
          </a:prstGeom>
          <a:noFill/>
          <a:ln/>
        </p:spPr>
        <p:txBody>
          <a:bodyPr wrap="square" lIns="25400" tIns="25400" rIns="25400" bIns="25400" rtlCol="0" anchor="t">
            <a:noAutofit/>
          </a:bodyPr>
          <a:lstStyle/>
          <a:p>
            <a:pPr marL="0" indent="0" algn="l">
              <a:buNone/>
            </a:pPr>
            <a:r>
              <a:rPr lang="en-US" sz="3500" b="1" kern="0" spc="396" dirty="0">
                <a:solidFill>
                  <a:srgbClr val="008EAA"/>
                </a:solidFill>
                <a:latin typeface="Avenir" pitchFamily="34" charset="0"/>
                <a:ea typeface="-apple-system" pitchFamily="34" charset="-122"/>
                <a:cs typeface="-apple-system" pitchFamily="34" charset="-120"/>
              </a:rPr>
              <a:t>WHEN YOU NEED TO SAY SOMETHING HARD</a:t>
            </a:r>
            <a:endParaRPr lang="en-US" sz="3500" dirty="0"/>
          </a:p>
        </p:txBody>
      </p:sp>
      <p:sp>
        <p:nvSpPr>
          <p:cNvPr id="3" name="Shape 1"/>
          <p:cNvSpPr/>
          <p:nvPr/>
        </p:nvSpPr>
        <p:spPr>
          <a:xfrm>
            <a:off x="952500" y="3462338"/>
            <a:ext cx="16383000" cy="3429000"/>
          </a:xfrm>
          <a:prstGeom prst="roundRect">
            <a:avLst>
              <a:gd name="adj" fmla="val 4444"/>
            </a:avLst>
          </a:prstGeom>
          <a:solidFill>
            <a:srgbClr val="FFFFFF"/>
          </a:solidFill>
          <a:ln w="19050">
            <a:solidFill>
              <a:srgbClr val="141414"/>
            </a:solidFill>
            <a:prstDash val="solid"/>
          </a:ln>
          <a:effectLst>
            <a:outerShdw blurRad="101600" dist="215526" dir="2700000" algn="bl" rotWithShape="0">
              <a:srgbClr val="008EAA">
                <a:alpha val="100000"/>
              </a:srgbClr>
            </a:outerShdw>
          </a:effectLst>
        </p:spPr>
        <p:txBody>
          <a:bodyPr/>
          <a:lstStyle/>
          <a:p>
            <a:endParaRPr lang="en-US"/>
          </a:p>
        </p:txBody>
      </p:sp>
      <p:sp>
        <p:nvSpPr>
          <p:cNvPr id="4" name="Text 2"/>
          <p:cNvSpPr/>
          <p:nvPr/>
        </p:nvSpPr>
        <p:spPr>
          <a:xfrm>
            <a:off x="1600009" y="4721908"/>
            <a:ext cx="15579471" cy="909859"/>
          </a:xfrm>
          <a:prstGeom prst="rect">
            <a:avLst/>
          </a:prstGeom>
          <a:noFill/>
          <a:ln/>
        </p:spPr>
        <p:txBody>
          <a:bodyPr wrap="square" lIns="25400" tIns="25400" rIns="25400" bIns="25400" rtlCol="0" anchor="t">
            <a:normAutofit/>
          </a:bodyPr>
          <a:lstStyle/>
          <a:p>
            <a:r>
              <a:rPr lang="en-US" sz="4000" b="1" dirty="0">
                <a:solidFill>
                  <a:srgbClr val="2A2A2A"/>
                </a:solidFill>
                <a:latin typeface="Avenir" pitchFamily="34" charset="0"/>
                <a:ea typeface="-apple-system" pitchFamily="34" charset="-122"/>
              </a:rPr>
              <a:t>“Reframe this in a way that challenges how I see the problem”</a:t>
            </a:r>
          </a:p>
        </p:txBody>
      </p:sp>
      <p:sp>
        <p:nvSpPr>
          <p:cNvPr id="5" name="Text 3"/>
          <p:cNvSpPr/>
          <p:nvPr/>
        </p:nvSpPr>
        <p:spPr>
          <a:xfrm>
            <a:off x="952500" y="7348538"/>
            <a:ext cx="16874490" cy="352425"/>
          </a:xfrm>
          <a:prstGeom prst="rect">
            <a:avLst/>
          </a:prstGeom>
          <a:noFill/>
          <a:ln/>
        </p:spPr>
        <p:txBody>
          <a:bodyPr wrap="square" lIns="25400" tIns="25400" rIns="25400" bIns="25400" rtlCol="0" anchor="t">
            <a:normAutofit lnSpcReduction="10000"/>
          </a:bodyPr>
          <a:lstStyle/>
          <a:p>
            <a:r>
              <a:rPr lang="en-US" sz="2100" b="1" dirty="0">
                <a:solidFill>
                  <a:srgbClr val="141414">
                    <a:alpha val="55000"/>
                  </a:srgbClr>
                </a:solidFill>
                <a:latin typeface="Avenir" pitchFamily="34" charset="0"/>
                <a:ea typeface="-apple-system" pitchFamily="34" charset="-122"/>
                <a:cs typeface="-apple-system" pitchFamily="34" charset="-120"/>
              </a:rPr>
              <a:t>Prompt 05 of 07</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a:extLst>
            <a:ext uri="{FF2B5EF4-FFF2-40B4-BE49-F238E27FC236}">
              <a16:creationId xmlns:a16="http://schemas.microsoft.com/office/drawing/2014/main" id="{C9B5CDBA-FEB0-F361-E21E-DE2787BEDE5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6E26575-8B2A-935A-2BBF-4661E9C90430}"/>
              </a:ext>
            </a:extLst>
          </p:cNvPr>
          <p:cNvSpPr/>
          <p:nvPr/>
        </p:nvSpPr>
        <p:spPr>
          <a:xfrm>
            <a:off x="952500" y="2982292"/>
            <a:ext cx="16874490" cy="304800"/>
          </a:xfrm>
          <a:prstGeom prst="rect">
            <a:avLst/>
          </a:prstGeom>
          <a:noFill/>
          <a:ln/>
        </p:spPr>
        <p:txBody>
          <a:bodyPr wrap="square" lIns="25400" tIns="25400" rIns="25400" bIns="25400" rtlCol="0" anchor="t">
            <a:noAutofit/>
          </a:bodyPr>
          <a:lstStyle/>
          <a:p>
            <a:pPr marL="0" indent="0" algn="l">
              <a:buNone/>
            </a:pPr>
            <a:r>
              <a:rPr lang="en-US" sz="3500" b="1" kern="0" spc="396" dirty="0">
                <a:solidFill>
                  <a:srgbClr val="008EAA"/>
                </a:solidFill>
                <a:latin typeface="Avenir" pitchFamily="34" charset="0"/>
                <a:ea typeface="-apple-system" pitchFamily="34" charset="-122"/>
                <a:cs typeface="-apple-system" pitchFamily="34" charset="-120"/>
              </a:rPr>
              <a:t>MY FAVOURITE — THE ACCURACY CHECK</a:t>
            </a:r>
            <a:endParaRPr lang="en-US" sz="3500" dirty="0"/>
          </a:p>
        </p:txBody>
      </p:sp>
      <p:sp>
        <p:nvSpPr>
          <p:cNvPr id="3" name="Shape 1">
            <a:extLst>
              <a:ext uri="{FF2B5EF4-FFF2-40B4-BE49-F238E27FC236}">
                <a16:creationId xmlns:a16="http://schemas.microsoft.com/office/drawing/2014/main" id="{CE22F4AF-93EF-46C9-93CE-FC059FA0C90F}"/>
              </a:ext>
            </a:extLst>
          </p:cNvPr>
          <p:cNvSpPr/>
          <p:nvPr/>
        </p:nvSpPr>
        <p:spPr>
          <a:xfrm>
            <a:off x="952500" y="3820492"/>
            <a:ext cx="15659100" cy="2712690"/>
          </a:xfrm>
          <a:prstGeom prst="roundRect">
            <a:avLst>
              <a:gd name="adj" fmla="val 5618"/>
            </a:avLst>
          </a:prstGeom>
          <a:solidFill>
            <a:srgbClr val="008EAA"/>
          </a:solidFill>
          <a:ln/>
        </p:spPr>
        <p:txBody>
          <a:bodyPr/>
          <a:lstStyle/>
          <a:p>
            <a:endParaRPr lang="en-US"/>
          </a:p>
        </p:txBody>
      </p:sp>
      <p:sp>
        <p:nvSpPr>
          <p:cNvPr id="4" name="Text 2">
            <a:extLst>
              <a:ext uri="{FF2B5EF4-FFF2-40B4-BE49-F238E27FC236}">
                <a16:creationId xmlns:a16="http://schemas.microsoft.com/office/drawing/2014/main" id="{53247BD4-C45B-0428-0D63-B32EDF11353E}"/>
              </a:ext>
            </a:extLst>
          </p:cNvPr>
          <p:cNvSpPr/>
          <p:nvPr/>
        </p:nvSpPr>
        <p:spPr>
          <a:xfrm>
            <a:off x="1676400" y="4061234"/>
            <a:ext cx="14716125" cy="2231205"/>
          </a:xfrm>
          <a:prstGeom prst="rect">
            <a:avLst/>
          </a:prstGeom>
          <a:noFill/>
          <a:ln/>
        </p:spPr>
        <p:txBody>
          <a:bodyPr wrap="square" lIns="25400" tIns="25400" rIns="25400" bIns="25400" rtlCol="0" anchor="t">
            <a:noAutofit/>
          </a:bodyPr>
          <a:lstStyle/>
          <a:p>
            <a:pPr>
              <a:lnSpc>
                <a:spcPct val="120000"/>
              </a:lnSpc>
            </a:pPr>
            <a:r>
              <a:rPr lang="en-US" sz="4000" b="1" dirty="0">
                <a:solidFill>
                  <a:schemeClr val="bg1"/>
                </a:solidFill>
                <a:latin typeface="Avenir" pitchFamily="34" charset="0"/>
                <a:ea typeface="-apple-system" pitchFamily="34" charset="-122"/>
              </a:rPr>
              <a:t>“At the end of your answer, give me an accuracy rating, if it's not 100% accurate, list the other possible answers and why you excluded them”</a:t>
            </a:r>
            <a:endParaRPr lang="en-US" sz="4000" dirty="0">
              <a:solidFill>
                <a:schemeClr val="bg1"/>
              </a:solidFill>
            </a:endParaRPr>
          </a:p>
        </p:txBody>
      </p:sp>
      <p:sp>
        <p:nvSpPr>
          <p:cNvPr id="5" name="Text 3">
            <a:extLst>
              <a:ext uri="{FF2B5EF4-FFF2-40B4-BE49-F238E27FC236}">
                <a16:creationId xmlns:a16="http://schemas.microsoft.com/office/drawing/2014/main" id="{4305E9E8-B2ED-CB52-E49A-A791E855D11A}"/>
              </a:ext>
            </a:extLst>
          </p:cNvPr>
          <p:cNvSpPr/>
          <p:nvPr/>
        </p:nvSpPr>
        <p:spPr>
          <a:xfrm>
            <a:off x="952500" y="6990383"/>
            <a:ext cx="16874490" cy="352425"/>
          </a:xfrm>
          <a:prstGeom prst="rect">
            <a:avLst/>
          </a:prstGeom>
          <a:noFill/>
          <a:ln/>
        </p:spPr>
        <p:txBody>
          <a:bodyPr wrap="square" lIns="25400" tIns="25400" rIns="25400" bIns="25400" rtlCol="0" anchor="t">
            <a:normAutofit lnSpcReduction="10000"/>
          </a:bodyPr>
          <a:lstStyle/>
          <a:p>
            <a:r>
              <a:rPr lang="en-US" sz="2100" b="1" dirty="0">
                <a:solidFill>
                  <a:srgbClr val="141414">
                    <a:alpha val="55000"/>
                  </a:srgbClr>
                </a:solidFill>
                <a:latin typeface="Avenir" pitchFamily="34" charset="0"/>
                <a:ea typeface="-apple-system" pitchFamily="34" charset="-122"/>
                <a:cs typeface="-apple-system" pitchFamily="34" charset="-120"/>
              </a:rPr>
              <a:t>Prompt 06 of 07</a:t>
            </a:r>
            <a:endParaRPr lang="en-US" sz="2100" dirty="0"/>
          </a:p>
        </p:txBody>
      </p:sp>
    </p:spTree>
    <p:extLst>
      <p:ext uri="{BB962C8B-B14F-4D97-AF65-F5344CB8AC3E}">
        <p14:creationId xmlns:p14="http://schemas.microsoft.com/office/powerpoint/2010/main" val="3119009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a:extLst>
            <a:ext uri="{FF2B5EF4-FFF2-40B4-BE49-F238E27FC236}">
              <a16:creationId xmlns:a16="http://schemas.microsoft.com/office/drawing/2014/main" id="{47CFE520-55B4-B086-A111-4E1AE9108AD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171560C-A674-FE25-36DE-3758E064B815}"/>
              </a:ext>
            </a:extLst>
          </p:cNvPr>
          <p:cNvSpPr/>
          <p:nvPr/>
        </p:nvSpPr>
        <p:spPr>
          <a:xfrm>
            <a:off x="952500" y="2624138"/>
            <a:ext cx="16874490" cy="304800"/>
          </a:xfrm>
          <a:prstGeom prst="rect">
            <a:avLst/>
          </a:prstGeom>
          <a:noFill/>
          <a:ln/>
        </p:spPr>
        <p:txBody>
          <a:bodyPr wrap="square" lIns="25400" tIns="25400" rIns="25400" bIns="25400" rtlCol="0" anchor="t">
            <a:noAutofit/>
          </a:bodyPr>
          <a:lstStyle/>
          <a:p>
            <a:r>
              <a:rPr lang="en-US" sz="3500" b="1" kern="0" spc="396" dirty="0">
                <a:solidFill>
                  <a:srgbClr val="008EAA"/>
                </a:solidFill>
                <a:latin typeface="Avenir" pitchFamily="34" charset="0"/>
                <a:ea typeface="-apple-system" pitchFamily="34" charset="-122"/>
                <a:cs typeface="-apple-system" pitchFamily="34" charset="-120"/>
              </a:rPr>
              <a:t>THE ACCURACY CHECK PART 2</a:t>
            </a:r>
            <a:endParaRPr lang="en-US" sz="3500" dirty="0"/>
          </a:p>
        </p:txBody>
      </p:sp>
      <p:sp>
        <p:nvSpPr>
          <p:cNvPr id="3" name="Shape 1">
            <a:extLst>
              <a:ext uri="{FF2B5EF4-FFF2-40B4-BE49-F238E27FC236}">
                <a16:creationId xmlns:a16="http://schemas.microsoft.com/office/drawing/2014/main" id="{0867E8A1-9C21-26A0-7AB3-6C6104388124}"/>
              </a:ext>
            </a:extLst>
          </p:cNvPr>
          <p:cNvSpPr/>
          <p:nvPr/>
        </p:nvSpPr>
        <p:spPr>
          <a:xfrm>
            <a:off x="952500" y="3462338"/>
            <a:ext cx="16383000" cy="3429000"/>
          </a:xfrm>
          <a:prstGeom prst="roundRect">
            <a:avLst>
              <a:gd name="adj" fmla="val 4444"/>
            </a:avLst>
          </a:prstGeom>
          <a:solidFill>
            <a:srgbClr val="FFFFFF"/>
          </a:solidFill>
          <a:ln w="19050">
            <a:solidFill>
              <a:srgbClr val="141414"/>
            </a:solidFill>
            <a:prstDash val="solid"/>
          </a:ln>
          <a:effectLst>
            <a:outerShdw blurRad="101600" dist="215526" dir="2700000" algn="bl" rotWithShape="0">
              <a:srgbClr val="008EAA">
                <a:alpha val="100000"/>
              </a:srgbClr>
            </a:outerShdw>
          </a:effectLst>
        </p:spPr>
        <p:txBody>
          <a:bodyPr/>
          <a:lstStyle/>
          <a:p>
            <a:endParaRPr lang="en-US"/>
          </a:p>
        </p:txBody>
      </p:sp>
      <p:sp>
        <p:nvSpPr>
          <p:cNvPr id="4" name="Text 2">
            <a:extLst>
              <a:ext uri="{FF2B5EF4-FFF2-40B4-BE49-F238E27FC236}">
                <a16:creationId xmlns:a16="http://schemas.microsoft.com/office/drawing/2014/main" id="{8D919CCD-A5AF-B031-19C9-9632BABF5B8D}"/>
              </a:ext>
            </a:extLst>
          </p:cNvPr>
          <p:cNvSpPr/>
          <p:nvPr/>
        </p:nvSpPr>
        <p:spPr>
          <a:xfrm>
            <a:off x="1600009" y="4736971"/>
            <a:ext cx="15579471" cy="803533"/>
          </a:xfrm>
          <a:prstGeom prst="rect">
            <a:avLst/>
          </a:prstGeom>
          <a:noFill/>
          <a:ln/>
        </p:spPr>
        <p:txBody>
          <a:bodyPr wrap="square" lIns="25400" tIns="25400" rIns="25400" bIns="25400" rtlCol="0" anchor="t">
            <a:normAutofit/>
          </a:bodyPr>
          <a:lstStyle/>
          <a:p>
            <a:r>
              <a:rPr lang="en-US" sz="4000" b="1" dirty="0">
                <a:solidFill>
                  <a:srgbClr val="2A2A2A"/>
                </a:solidFill>
                <a:latin typeface="Avenir" pitchFamily="34" charset="0"/>
                <a:ea typeface="-apple-system" pitchFamily="34" charset="-122"/>
              </a:rPr>
              <a:t>“Cite the source. Give me a list of every fact you relied on”</a:t>
            </a:r>
          </a:p>
        </p:txBody>
      </p:sp>
      <p:sp>
        <p:nvSpPr>
          <p:cNvPr id="5" name="Text 3">
            <a:extLst>
              <a:ext uri="{FF2B5EF4-FFF2-40B4-BE49-F238E27FC236}">
                <a16:creationId xmlns:a16="http://schemas.microsoft.com/office/drawing/2014/main" id="{00E70149-2462-0887-618B-5BA88A852525}"/>
              </a:ext>
            </a:extLst>
          </p:cNvPr>
          <p:cNvSpPr/>
          <p:nvPr/>
        </p:nvSpPr>
        <p:spPr>
          <a:xfrm>
            <a:off x="952500" y="7348538"/>
            <a:ext cx="16874490" cy="352425"/>
          </a:xfrm>
          <a:prstGeom prst="rect">
            <a:avLst/>
          </a:prstGeom>
          <a:noFill/>
          <a:ln/>
        </p:spPr>
        <p:txBody>
          <a:bodyPr wrap="square" lIns="25400" tIns="25400" rIns="25400" bIns="25400" rtlCol="0" anchor="t">
            <a:normAutofit lnSpcReduction="10000"/>
          </a:bodyPr>
          <a:lstStyle/>
          <a:p>
            <a:r>
              <a:rPr lang="en-US" sz="2100" b="1" dirty="0">
                <a:solidFill>
                  <a:srgbClr val="141414">
                    <a:alpha val="55000"/>
                  </a:srgbClr>
                </a:solidFill>
                <a:latin typeface="Avenir" pitchFamily="34" charset="0"/>
                <a:ea typeface="-apple-system" pitchFamily="34" charset="-122"/>
                <a:cs typeface="-apple-system" pitchFamily="34" charset="-120"/>
              </a:rPr>
              <a:t>Prompt 07 of 07</a:t>
            </a:r>
            <a:endParaRPr lang="en-US" sz="2100" dirty="0"/>
          </a:p>
        </p:txBody>
      </p:sp>
    </p:spTree>
    <p:extLst>
      <p:ext uri="{BB962C8B-B14F-4D97-AF65-F5344CB8AC3E}">
        <p14:creationId xmlns:p14="http://schemas.microsoft.com/office/powerpoint/2010/main" val="1339577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Reference Card">
    <p:bg>
      <p:bgPr>
        <a:solidFill>
          <a:srgbClr val="141414"/>
        </a:solidFill>
        <a:effectLst/>
      </p:bgPr>
    </p:bg>
    <p:spTree>
      <p:nvGrpSpPr>
        <p:cNvPr id="1" name=""/>
        <p:cNvGrpSpPr/>
        <p:nvPr/>
      </p:nvGrpSpPr>
      <p:grpSpPr>
        <a:xfrm>
          <a:off x="0" y="0"/>
          <a:ext cx="0" cy="0"/>
          <a:chOff x="0" y="0"/>
          <a:chExt cx="0" cy="0"/>
        </a:xfrm>
      </p:grpSpPr>
      <p:sp>
        <p:nvSpPr>
          <p:cNvPr id="2" name="Title Label"/>
          <p:cNvSpPr/>
          <p:nvPr/>
        </p:nvSpPr>
        <p:spPr>
          <a:xfrm>
            <a:off x="700000" y="300000"/>
            <a:ext cx="16888000" cy="350000"/>
          </a:xfrm>
          <a:prstGeom prst="rect">
            <a:avLst/>
          </a:prstGeom>
          <a:noFill/>
          <a:ln>
            <a:noFill/>
          </a:ln>
        </p:spPr>
        <p:txBody>
          <a:bodyPr wrap="square" lIns="0" tIns="0" rIns="0" bIns="0" rtlCol="0" anchor="t"/>
          <a:lstStyle/>
          <a:p>
            <a:pPr algn="l">
              <a:buNone/>
            </a:pPr>
            <a:r>
              <a:rPr lang="en-US" sz="1800" b="1" kern="0" spc="396">
                <a:solidFill>
                  <a:srgbClr val="008EAA"/>
                </a:solidFill>
                <a:latin typeface="Avenir"/>
              </a:rPr>
              <a:t>SCREENSHOT THIS SLIDE</a:t>
            </a:r>
          </a:p>
        </p:txBody>
      </p:sp>
      <p:sp>
        <p:nvSpPr>
          <p:cNvPr id="3" name="Title"/>
          <p:cNvSpPr/>
          <p:nvPr/>
        </p:nvSpPr>
        <p:spPr>
          <a:xfrm>
            <a:off x="700000" y="650000"/>
            <a:ext cx="16888000" cy="800000"/>
          </a:xfrm>
          <a:prstGeom prst="rect">
            <a:avLst/>
          </a:prstGeom>
          <a:noFill/>
          <a:ln>
            <a:noFill/>
          </a:ln>
        </p:spPr>
        <p:txBody>
          <a:bodyPr wrap="square" lIns="0" tIns="0" rIns="0" bIns="0" rtlCol="0" anchor="t"/>
          <a:lstStyle/>
          <a:p>
            <a:pPr algn="l">
              <a:buNone/>
            </a:pPr>
            <a:r>
              <a:rPr lang="en-US" sz="4000" b="1" kern="0" spc="-100" dirty="0">
                <a:solidFill>
                  <a:srgbClr val="F7F4EE"/>
                </a:solidFill>
                <a:latin typeface="Catamaran"/>
              </a:rPr>
              <a:t>The reference card.</a:t>
            </a:r>
          </a:p>
        </p:txBody>
      </p:sp>
      <p:sp>
        <p:nvSpPr>
          <p:cNvPr id="10" name="Square 1"/>
          <p:cNvSpPr/>
          <p:nvPr/>
        </p:nvSpPr>
        <p:spPr>
          <a:xfrm>
            <a:off x="700000" y="1700000"/>
            <a:ext cx="4087000" cy="2800000"/>
          </a:xfrm>
          <a:prstGeom prst="roundRect">
            <a:avLst>
              <a:gd name="adj" fmla="val 5000"/>
            </a:avLst>
          </a:prstGeom>
          <a:solidFill>
            <a:srgbClr val="008EAA"/>
          </a:solidFill>
          <a:ln>
            <a:noFill/>
          </a:ln>
        </p:spPr>
        <p:txBody>
          <a:bodyPr wrap="square" lIns="180000" tIns="180000" rIns="180000" bIns="180000" rtlCol="0" anchor="t"/>
          <a:lstStyle/>
          <a:p>
            <a:pPr algn="l">
              <a:buNone/>
            </a:pPr>
            <a:r>
              <a:rPr lang="en-US" sz="1600" b="1" kern="0" spc="300" dirty="0">
                <a:solidFill>
                  <a:srgbClr val="FFFFFF"/>
                </a:solidFill>
                <a:latin typeface="Avenir"/>
              </a:rPr>
              <a:t>UNIVERSAL STARTER</a:t>
            </a:r>
          </a:p>
          <a:p>
            <a:pPr algn="l">
              <a:spcBef>
                <a:spcPts val="800"/>
              </a:spcBef>
              <a:buNone/>
            </a:pPr>
            <a:r>
              <a:rPr lang="en-US" sz="1800" b="0" kern="0" dirty="0">
                <a:solidFill>
                  <a:srgbClr val="FFFFFF"/>
                </a:solidFill>
                <a:latin typeface="Avenir"/>
              </a:rPr>
              <a:t>“Here’s what I’m dealing with. I’m not sure what I need yet. Can you help me figure out where to start?”</a:t>
            </a:r>
          </a:p>
        </p:txBody>
      </p:sp>
      <p:sp>
        <p:nvSpPr>
          <p:cNvPr id="11" name="Square 2"/>
          <p:cNvSpPr/>
          <p:nvPr/>
        </p:nvSpPr>
        <p:spPr>
          <a:xfrm>
            <a:off x="4967000" y="1700000"/>
            <a:ext cx="4087000" cy="2800000"/>
          </a:xfrm>
          <a:prstGeom prst="roundRect">
            <a:avLst>
              <a:gd name="adj" fmla="val 5000"/>
            </a:avLst>
          </a:prstGeom>
          <a:solidFill>
            <a:srgbClr val="008EAA"/>
          </a:solidFill>
          <a:ln>
            <a:noFill/>
          </a:ln>
        </p:spPr>
        <p:txBody>
          <a:bodyPr wrap="square" lIns="180000" tIns="180000" rIns="180000" bIns="180000" rtlCol="0" anchor="t"/>
          <a:lstStyle/>
          <a:p>
            <a:pPr algn="l">
              <a:buNone/>
            </a:pPr>
            <a:r>
              <a:rPr lang="en-US" sz="1600" b="1" kern="0" spc="300">
                <a:solidFill>
                  <a:srgbClr val="FFFFFF"/>
                </a:solidFill>
                <a:latin typeface="Avenir"/>
              </a:rPr>
              <a:t>FROM SCRATCH</a:t>
            </a:r>
          </a:p>
          <a:p>
            <a:pPr algn="l">
              <a:spcBef>
                <a:spcPts val="800"/>
              </a:spcBef>
              <a:buNone/>
            </a:pPr>
            <a:r>
              <a:rPr lang="en-US" sz="1800" b="0" kern="0">
                <a:solidFill>
                  <a:srgbClr val="FFFFFF"/>
                </a:solidFill>
                <a:latin typeface="Avenir"/>
              </a:rPr>
              <a:t>“I’m working on X and I don’t know where to start. Can you ask me questions to help me figure out the right first step?”</a:t>
            </a:r>
          </a:p>
        </p:txBody>
      </p:sp>
      <p:sp>
        <p:nvSpPr>
          <p:cNvPr id="12" name="Square 3"/>
          <p:cNvSpPr/>
          <p:nvPr/>
        </p:nvSpPr>
        <p:spPr>
          <a:xfrm>
            <a:off x="9234000" y="1700000"/>
            <a:ext cx="4087000" cy="2800000"/>
          </a:xfrm>
          <a:prstGeom prst="roundRect">
            <a:avLst>
              <a:gd name="adj" fmla="val 5000"/>
            </a:avLst>
          </a:prstGeom>
          <a:solidFill>
            <a:srgbClr val="008EAA"/>
          </a:solidFill>
          <a:ln>
            <a:noFill/>
          </a:ln>
        </p:spPr>
        <p:txBody>
          <a:bodyPr wrap="square" lIns="180000" tIns="180000" rIns="180000" bIns="180000" rtlCol="0" anchor="t"/>
          <a:lstStyle/>
          <a:p>
            <a:pPr algn="l">
              <a:buNone/>
            </a:pPr>
            <a:r>
              <a:rPr lang="en-US" sz="1600" b="1" kern="0" spc="300">
                <a:solidFill>
                  <a:srgbClr val="FFFFFF"/>
                </a:solidFill>
                <a:latin typeface="Avenir"/>
              </a:rPr>
              <a:t>BLIND-SPOT CHECK</a:t>
            </a:r>
          </a:p>
          <a:p>
            <a:pPr algn="l">
              <a:spcBef>
                <a:spcPts val="800"/>
              </a:spcBef>
              <a:buNone/>
            </a:pPr>
            <a:r>
              <a:rPr lang="en-US" sz="1800" b="0" kern="0">
                <a:solidFill>
                  <a:srgbClr val="FFFFFF"/>
                </a:solidFill>
                <a:latin typeface="Avenir"/>
              </a:rPr>
              <a:t>“What am I probably forgetting or underestimating?”</a:t>
            </a:r>
          </a:p>
        </p:txBody>
      </p:sp>
      <p:sp>
        <p:nvSpPr>
          <p:cNvPr id="13" name="Square 4"/>
          <p:cNvSpPr/>
          <p:nvPr/>
        </p:nvSpPr>
        <p:spPr>
          <a:xfrm>
            <a:off x="13501000" y="1700000"/>
            <a:ext cx="4087000" cy="2800000"/>
          </a:xfrm>
          <a:prstGeom prst="roundRect">
            <a:avLst>
              <a:gd name="adj" fmla="val 5000"/>
            </a:avLst>
          </a:prstGeom>
          <a:solidFill>
            <a:srgbClr val="008EAA"/>
          </a:solidFill>
          <a:ln>
            <a:noFill/>
          </a:ln>
        </p:spPr>
        <p:txBody>
          <a:bodyPr wrap="square" lIns="180000" tIns="180000" rIns="180000" bIns="180000" rtlCol="0" anchor="t"/>
          <a:lstStyle/>
          <a:p>
            <a:pPr algn="l">
              <a:buNone/>
            </a:pPr>
            <a:r>
              <a:rPr lang="en-US" sz="1600" b="1" kern="0" spc="300">
                <a:solidFill>
                  <a:srgbClr val="FFFFFF"/>
                </a:solidFill>
                <a:latin typeface="Avenir"/>
              </a:rPr>
              <a:t>TOP 0.1%</a:t>
            </a:r>
          </a:p>
          <a:p>
            <a:pPr algn="l">
              <a:spcBef>
                <a:spcPts val="800"/>
              </a:spcBef>
              <a:buNone/>
            </a:pPr>
            <a:r>
              <a:rPr lang="en-US" sz="1800" b="0" kern="0">
                <a:solidFill>
                  <a:srgbClr val="FFFFFF"/>
                </a:solidFill>
                <a:latin typeface="Avenir"/>
              </a:rPr>
              <a:t>“What would a top 0.1% person in this field think of this?”</a:t>
            </a:r>
          </a:p>
        </p:txBody>
      </p:sp>
      <p:sp>
        <p:nvSpPr>
          <p:cNvPr id="14" name="Square 5"/>
          <p:cNvSpPr/>
          <p:nvPr/>
        </p:nvSpPr>
        <p:spPr>
          <a:xfrm>
            <a:off x="2833500" y="4750000"/>
            <a:ext cx="4087000" cy="2800000"/>
          </a:xfrm>
          <a:prstGeom prst="roundRect">
            <a:avLst>
              <a:gd name="adj" fmla="val 5000"/>
            </a:avLst>
          </a:prstGeom>
          <a:solidFill>
            <a:srgbClr val="008EAA"/>
          </a:solidFill>
          <a:ln>
            <a:noFill/>
          </a:ln>
        </p:spPr>
        <p:txBody>
          <a:bodyPr wrap="square" lIns="180000" tIns="180000" rIns="180000" bIns="180000" rtlCol="0" anchor="t"/>
          <a:lstStyle/>
          <a:p>
            <a:pPr algn="l">
              <a:buNone/>
            </a:pPr>
            <a:r>
              <a:rPr lang="en-US" sz="1600" b="1" kern="0" spc="300">
                <a:solidFill>
                  <a:srgbClr val="FFFFFF"/>
                </a:solidFill>
                <a:latin typeface="Avenir"/>
              </a:rPr>
              <a:t>REFRAME</a:t>
            </a:r>
          </a:p>
          <a:p>
            <a:pPr algn="l">
              <a:spcBef>
                <a:spcPts val="800"/>
              </a:spcBef>
              <a:buNone/>
            </a:pPr>
            <a:r>
              <a:rPr lang="en-US" sz="1800" b="0" kern="0">
                <a:solidFill>
                  <a:srgbClr val="FFFFFF"/>
                </a:solidFill>
                <a:latin typeface="Avenir"/>
              </a:rPr>
              <a:t>“Reframe this in a way that challenges how I see the problem”</a:t>
            </a:r>
          </a:p>
        </p:txBody>
      </p:sp>
      <p:sp>
        <p:nvSpPr>
          <p:cNvPr id="15" name="Square 6"/>
          <p:cNvSpPr/>
          <p:nvPr/>
        </p:nvSpPr>
        <p:spPr>
          <a:xfrm>
            <a:off x="7100500" y="4750000"/>
            <a:ext cx="4087000" cy="2800000"/>
          </a:xfrm>
          <a:prstGeom prst="roundRect">
            <a:avLst>
              <a:gd name="adj" fmla="val 5000"/>
            </a:avLst>
          </a:prstGeom>
          <a:solidFill>
            <a:srgbClr val="008EAA"/>
          </a:solidFill>
          <a:ln>
            <a:noFill/>
          </a:ln>
        </p:spPr>
        <p:txBody>
          <a:bodyPr wrap="square" lIns="180000" tIns="180000" rIns="180000" bIns="180000" rtlCol="0" anchor="t"/>
          <a:lstStyle/>
          <a:p>
            <a:pPr algn="l">
              <a:buNone/>
            </a:pPr>
            <a:r>
              <a:rPr lang="en-US" sz="1600" b="1" kern="0" spc="300">
                <a:solidFill>
                  <a:srgbClr val="FFFFFF"/>
                </a:solidFill>
                <a:latin typeface="Avenir"/>
              </a:rPr>
              <a:t>ACCURACY CHECK</a:t>
            </a:r>
          </a:p>
          <a:p>
            <a:pPr algn="l">
              <a:spcBef>
                <a:spcPts val="800"/>
              </a:spcBef>
              <a:buNone/>
            </a:pPr>
            <a:r>
              <a:rPr lang="en-US" sz="1800" b="0" kern="0">
                <a:solidFill>
                  <a:srgbClr val="FFFFFF"/>
                </a:solidFill>
                <a:latin typeface="Avenir"/>
              </a:rPr>
              <a:t>“At the end of your answer, give me an accuracy rating. If it’s not 100% accurate, list the other possible answers and why you excluded them”</a:t>
            </a:r>
          </a:p>
        </p:txBody>
      </p:sp>
      <p:sp>
        <p:nvSpPr>
          <p:cNvPr id="16" name="Square 7"/>
          <p:cNvSpPr/>
          <p:nvPr/>
        </p:nvSpPr>
        <p:spPr>
          <a:xfrm>
            <a:off x="11367500" y="4750000"/>
            <a:ext cx="4087000" cy="2800000"/>
          </a:xfrm>
          <a:prstGeom prst="roundRect">
            <a:avLst>
              <a:gd name="adj" fmla="val 5000"/>
            </a:avLst>
          </a:prstGeom>
          <a:solidFill>
            <a:srgbClr val="008EAA"/>
          </a:solidFill>
          <a:ln>
            <a:noFill/>
          </a:ln>
        </p:spPr>
        <p:txBody>
          <a:bodyPr wrap="square" lIns="180000" tIns="180000" rIns="180000" bIns="180000" rtlCol="0" anchor="t"/>
          <a:lstStyle/>
          <a:p>
            <a:pPr algn="l">
              <a:buNone/>
            </a:pPr>
            <a:r>
              <a:rPr lang="en-US" sz="1600" b="1" kern="0" spc="300">
                <a:solidFill>
                  <a:srgbClr val="FFFFFF"/>
                </a:solidFill>
                <a:latin typeface="Avenir"/>
              </a:rPr>
              <a:t>CITE SOURCES</a:t>
            </a:r>
          </a:p>
          <a:p>
            <a:pPr algn="l">
              <a:spcBef>
                <a:spcPts val="800"/>
              </a:spcBef>
              <a:buNone/>
            </a:pPr>
            <a:r>
              <a:rPr lang="en-US" sz="1800" b="0" kern="0">
                <a:solidFill>
                  <a:srgbClr val="FFFFFF"/>
                </a:solidFill>
                <a:latin typeface="Avenir"/>
              </a:rPr>
              <a:t>“Cite the source. Give me a list of every fact you relied on”</a:t>
            </a:r>
          </a:p>
        </p:txBody>
      </p:sp>
      <p:sp>
        <p:nvSpPr>
          <p:cNvPr id="20" name="Footer"/>
          <p:cNvSpPr/>
          <p:nvPr/>
        </p:nvSpPr>
        <p:spPr>
          <a:xfrm>
            <a:off x="700000" y="9500000"/>
            <a:ext cx="16888000" cy="400000"/>
          </a:xfrm>
          <a:prstGeom prst="rect">
            <a:avLst/>
          </a:prstGeom>
          <a:noFill/>
          <a:ln>
            <a:noFill/>
          </a:ln>
        </p:spPr>
        <p:txBody>
          <a:bodyPr wrap="square" lIns="0" tIns="0" rIns="0" bIns="0" rtlCol="0" anchor="b"/>
          <a:lstStyle/>
          <a:p>
            <a:pPr algn="l">
              <a:buNone/>
            </a:pPr>
            <a:r>
              <a:rPr lang="en-US" sz="1400" b="0" kern="0">
                <a:solidFill>
                  <a:srgbClr val="666666"/>
                </a:solidFill>
                <a:latin typeface="Avenir"/>
              </a:rPr>
              <a:t>boombusinesssolutions.com</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952500" y="1885578"/>
            <a:ext cx="8211368" cy="304800"/>
          </a:xfrm>
          <a:prstGeom prst="rect">
            <a:avLst/>
          </a:prstGeom>
          <a:noFill/>
          <a:ln/>
        </p:spPr>
        <p:txBody>
          <a:bodyPr wrap="square" lIns="25400" tIns="25400" rIns="25400" bIns="25400" rtlCol="0" anchor="t">
            <a:normAutofit lnSpcReduction="10000"/>
          </a:bodyPr>
          <a:lstStyle/>
          <a:p>
            <a:pPr marL="0" indent="0" algn="l">
              <a:buNone/>
            </a:pPr>
            <a:r>
              <a:rPr lang="en-US" sz="1800" b="1" kern="0" spc="396">
                <a:solidFill>
                  <a:srgbClr val="008EAA"/>
                </a:solidFill>
                <a:latin typeface="Avenir" pitchFamily="34" charset="0"/>
                <a:ea typeface="-apple-system" pitchFamily="34" charset="-122"/>
                <a:cs typeface="-apple-system" pitchFamily="34" charset="-120"/>
              </a:rPr>
              <a:t>THE CLOSE</a:t>
            </a:r>
            <a:endParaRPr lang="en-US" sz="1800" dirty="0"/>
          </a:p>
        </p:txBody>
      </p:sp>
      <p:sp>
        <p:nvSpPr>
          <p:cNvPr id="3" name="Text 1"/>
          <p:cNvSpPr/>
          <p:nvPr/>
        </p:nvSpPr>
        <p:spPr>
          <a:xfrm>
            <a:off x="952500" y="2457078"/>
            <a:ext cx="8211368" cy="2644006"/>
          </a:xfrm>
          <a:prstGeom prst="rect">
            <a:avLst/>
          </a:prstGeom>
          <a:noFill/>
          <a:ln/>
        </p:spPr>
        <p:txBody>
          <a:bodyPr wrap="square" lIns="25400" tIns="25400" rIns="25400" bIns="25400" rtlCol="0" anchor="t">
            <a:normAutofit/>
          </a:bodyPr>
          <a:lstStyle/>
          <a:p>
            <a:pPr marL="0" indent="0" algn="l">
              <a:lnSpc>
                <a:spcPct val="95000"/>
              </a:lnSpc>
              <a:buNone/>
            </a:pPr>
            <a:r>
              <a:rPr lang="en-US" sz="7200" b="1" kern="0" spc="-180" dirty="0">
                <a:solidFill>
                  <a:srgbClr val="141414"/>
                </a:solidFill>
                <a:latin typeface="Catamaran" pitchFamily="34" charset="0"/>
                <a:ea typeface="-apple-system" pitchFamily="34" charset="-122"/>
                <a:cs typeface="-apple-system" pitchFamily="34" charset="-120"/>
              </a:rPr>
              <a:t>The people who'll feel the biggest lift from AI</a:t>
            </a:r>
            <a:endParaRPr lang="en-US" sz="7200" dirty="0"/>
          </a:p>
        </p:txBody>
      </p:sp>
      <p:sp>
        <p:nvSpPr>
          <p:cNvPr id="4" name="Text 2"/>
          <p:cNvSpPr/>
          <p:nvPr/>
        </p:nvSpPr>
        <p:spPr>
          <a:xfrm>
            <a:off x="952499" y="4574381"/>
            <a:ext cx="8044815" cy="52670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850" b="1" dirty="0">
                <a:solidFill>
                  <a:srgbClr val="2A2A2A"/>
                </a:solidFill>
                <a:latin typeface="Avenir" pitchFamily="34" charset="0"/>
                <a:ea typeface="-apple-system" pitchFamily="34" charset="-122"/>
                <a:cs typeface="-apple-system" pitchFamily="34" charset="-120"/>
              </a:rPr>
              <a:t>aren't the ones who took the most courses on it.</a:t>
            </a:r>
            <a:endParaRPr lang="en-US" sz="2850" dirty="0"/>
          </a:p>
        </p:txBody>
      </p:sp>
      <p:sp>
        <p:nvSpPr>
          <p:cNvPr id="5" name="Text 3"/>
          <p:cNvSpPr/>
          <p:nvPr/>
        </p:nvSpPr>
        <p:spPr>
          <a:xfrm>
            <a:off x="952500" y="6237387"/>
            <a:ext cx="8044815" cy="1135261"/>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3600" b="1">
                <a:solidFill>
                  <a:srgbClr val="141414"/>
                </a:solidFill>
                <a:latin typeface="Avenir" pitchFamily="34" charset="0"/>
                <a:ea typeface="-apple-system" pitchFamily="34" charset="-122"/>
                <a:cs typeface="-apple-system" pitchFamily="34" charset="-120"/>
              </a:rPr>
              <a:t>They're the ones who got comfortable </a:t>
            </a:r>
            <a:r>
              <a:rPr lang="en-US" sz="3600" b="1">
                <a:solidFill>
                  <a:srgbClr val="008EAA"/>
                </a:solidFill>
                <a:latin typeface="Avenir" pitchFamily="34" charset="0"/>
                <a:ea typeface="-apple-system" pitchFamily="34" charset="-122"/>
                <a:cs typeface="-apple-system" pitchFamily="34" charset="-120"/>
              </a:rPr>
              <a:t>just talking to it.</a:t>
            </a:r>
            <a:endParaRPr lang="en-US" sz="3600" dirty="0"/>
          </a:p>
        </p:txBody>
      </p:sp>
      <p:sp>
        <p:nvSpPr>
          <p:cNvPr id="6" name="Shape 4"/>
          <p:cNvSpPr/>
          <p:nvPr/>
        </p:nvSpPr>
        <p:spPr>
          <a:xfrm>
            <a:off x="952500" y="7944148"/>
            <a:ext cx="457200" cy="647700"/>
          </a:xfrm>
          <a:prstGeom prst="rect">
            <a:avLst/>
          </a:prstGeom>
          <a:solidFill>
            <a:srgbClr val="008EAA"/>
          </a:solidFill>
          <a:ln/>
        </p:spPr>
        <p:txBody>
          <a:bodyPr/>
          <a:lstStyle/>
          <a:p>
            <a:endParaRPr lang="en-US"/>
          </a:p>
        </p:txBody>
      </p:sp>
      <p:sp>
        <p:nvSpPr>
          <p:cNvPr id="7" name="Text 5"/>
          <p:cNvSpPr/>
          <p:nvPr/>
        </p:nvSpPr>
        <p:spPr>
          <a:xfrm>
            <a:off x="1638300" y="8065591"/>
            <a:ext cx="4572499" cy="442913"/>
          </a:xfrm>
          <a:prstGeom prst="rect">
            <a:avLst/>
          </a:prstGeom>
          <a:noFill/>
          <a:ln/>
        </p:spPr>
        <p:txBody>
          <a:bodyPr wrap="square" lIns="25400" tIns="25400" rIns="25400" bIns="25400" rtlCol="0" anchor="t">
            <a:normAutofit lnSpcReduction="10000"/>
          </a:bodyPr>
          <a:lstStyle/>
          <a:p>
            <a:pPr marL="0" indent="0" algn="l">
              <a:buNone/>
            </a:pPr>
            <a:r>
              <a:rPr lang="en-US" sz="2700" b="1">
                <a:solidFill>
                  <a:srgbClr val="141414"/>
                </a:solidFill>
                <a:latin typeface="Avenir" pitchFamily="34" charset="0"/>
                <a:ea typeface="-apple-system" pitchFamily="34" charset="-122"/>
                <a:cs typeface="-apple-system" pitchFamily="34" charset="-120"/>
              </a:rPr>
              <a:t>Start there. The rest follows.</a:t>
            </a:r>
            <a:endParaRPr lang="en-US" sz="2700" dirty="0"/>
          </a:p>
        </p:txBody>
      </p:sp>
      <p:pic>
        <p:nvPicPr>
          <p:cNvPr id="8" name="Image 0" descr="preencoded.png"/>
          <p:cNvPicPr>
            <a:picLocks noChangeAspect="1"/>
          </p:cNvPicPr>
          <p:nvPr/>
        </p:nvPicPr>
        <p:blipFill>
          <a:blip r:embed="rId3"/>
          <a:srcRect t="9606" b="9606"/>
          <a:stretch/>
        </p:blipFill>
        <p:spPr>
          <a:xfrm>
            <a:off x="9781952" y="0"/>
            <a:ext cx="8505974" cy="10287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7F4EE"/>
        </a:solidFill>
        <a:effectLst/>
      </p:bgPr>
    </p:bg>
    <p:spTree>
      <p:nvGrpSpPr>
        <p:cNvPr id="1" name=""/>
        <p:cNvGrpSpPr/>
        <p:nvPr/>
      </p:nvGrpSpPr>
      <p:grpSpPr>
        <a:xfrm>
          <a:off x="0" y="0"/>
          <a:ext cx="0" cy="0"/>
          <a:chOff x="0" y="0"/>
          <a:chExt cx="0" cy="0"/>
        </a:xfrm>
      </p:grpSpPr>
      <p:sp>
        <p:nvSpPr>
          <p:cNvPr id="2" name="Text 0"/>
          <p:cNvSpPr/>
          <p:nvPr/>
        </p:nvSpPr>
        <p:spPr>
          <a:xfrm>
            <a:off x="952500" y="500000"/>
            <a:ext cx="7000000" cy="450000"/>
          </a:xfrm>
          <a:prstGeom prst="rect">
            <a:avLst/>
          </a:prstGeom>
          <a:noFill/>
          <a:ln/>
        </p:spPr>
        <p:txBody>
          <a:bodyPr wrap="square" lIns="25400" tIns="25400" rIns="25400" bIns="25400" rtlCol="0" anchor="t">
            <a:normAutofit/>
          </a:bodyPr>
          <a:lstStyle/>
          <a:p>
            <a:pPr marL="0" indent="0" algn="l">
              <a:buNone/>
            </a:pPr>
            <a:r>
              <a:rPr lang="en-US" sz="2500" b="1" kern="0" spc="396" dirty="0">
                <a:solidFill>
                  <a:srgbClr val="008EAA"/>
                </a:solidFill>
                <a:latin typeface="Avenir" pitchFamily="34" charset="0"/>
                <a:ea typeface="-apple-system" pitchFamily="34" charset="-122"/>
                <a:cs typeface="-apple-system" pitchFamily="34" charset="-120"/>
              </a:rPr>
              <a:t>IF YOU WANT HELP GETTING THERE</a:t>
            </a:r>
            <a:endParaRPr lang="en-US" sz="2500" dirty="0"/>
          </a:p>
        </p:txBody>
      </p:sp>
      <p:sp>
        <p:nvSpPr>
          <p:cNvPr id="3" name="Text 1"/>
          <p:cNvSpPr/>
          <p:nvPr/>
        </p:nvSpPr>
        <p:spPr>
          <a:xfrm>
            <a:off x="8400000" y="500000"/>
            <a:ext cx="2100000" cy="450000"/>
          </a:xfrm>
          <a:prstGeom prst="rect">
            <a:avLst/>
          </a:prstGeom>
          <a:noFill/>
          <a:ln/>
        </p:spPr>
        <p:txBody>
          <a:bodyPr wrap="square" lIns="25400" tIns="25400" rIns="25400" bIns="25400" rtlCol="0" anchor="t">
            <a:normAutofit/>
          </a:bodyPr>
          <a:lstStyle/>
          <a:p>
            <a:pPr marL="0" indent="0" algn="l">
              <a:buNone/>
            </a:pPr>
            <a:r>
              <a:rPr lang="en-US" sz="2500" b="1">
                <a:solidFill>
                  <a:srgbClr val="141414">
                    <a:alpha val="55000"/>
                  </a:srgbClr>
                </a:solidFill>
                <a:latin typeface="Avenir" pitchFamily="34" charset="0"/>
                <a:ea typeface="JetBrains Mono" pitchFamily="34" charset="-122"/>
                <a:cs typeface="JetBrains Mono" pitchFamily="34" charset="-120"/>
              </a:rPr>
              <a:t>Program 01</a:t>
            </a:r>
            <a:endParaRPr lang="en-US" sz="2500"/>
          </a:p>
        </p:txBody>
      </p:sp>
      <p:sp>
        <p:nvSpPr>
          <p:cNvPr id="4" name="Text 2"/>
          <p:cNvSpPr/>
          <p:nvPr/>
        </p:nvSpPr>
        <p:spPr>
          <a:xfrm>
            <a:off x="952500" y="1050000"/>
            <a:ext cx="9320136" cy="1300000"/>
          </a:xfrm>
          <a:prstGeom prst="rect">
            <a:avLst/>
          </a:prstGeom>
          <a:noFill/>
          <a:ln/>
        </p:spPr>
        <p:txBody>
          <a:bodyPr wrap="square" lIns="25400" tIns="25400" rIns="25400" bIns="25400" rtlCol="0" anchor="t">
            <a:normAutofit fontScale="92500"/>
          </a:bodyPr>
          <a:lstStyle/>
          <a:p>
            <a:pPr marL="0" indent="0" algn="l">
              <a:lnSpc>
                <a:spcPct val="95000"/>
              </a:lnSpc>
              <a:buNone/>
            </a:pPr>
            <a:r>
              <a:rPr lang="en-US" sz="6600" b="1" kern="0" spc="-165" dirty="0">
                <a:solidFill>
                  <a:srgbClr val="141414"/>
                </a:solidFill>
                <a:latin typeface="Catamaran" pitchFamily="34" charset="0"/>
                <a:ea typeface="-apple-system" pitchFamily="34" charset="-122"/>
                <a:cs typeface="-apple-system" pitchFamily="34" charset="-120"/>
              </a:rPr>
              <a:t>AI Foundations &amp; </a:t>
            </a:r>
            <a:r>
              <a:rPr lang="en-US" sz="6600" b="1" kern="0" spc="-165" dirty="0">
                <a:solidFill>
                  <a:srgbClr val="008EAA"/>
                </a:solidFill>
                <a:latin typeface="Catamaran" pitchFamily="34" charset="0"/>
                <a:ea typeface="-apple-system" pitchFamily="34" charset="-122"/>
                <a:cs typeface="-apple-system" pitchFamily="34" charset="-120"/>
              </a:rPr>
              <a:t>Applied Use</a:t>
            </a:r>
            <a:endParaRPr lang="en-US" sz="6600" dirty="0"/>
          </a:p>
        </p:txBody>
      </p:sp>
      <p:sp>
        <p:nvSpPr>
          <p:cNvPr id="5" name="Text 3"/>
          <p:cNvSpPr/>
          <p:nvPr/>
        </p:nvSpPr>
        <p:spPr>
          <a:xfrm>
            <a:off x="952500" y="1975000"/>
            <a:ext cx="9000000" cy="100000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2800" b="1" dirty="0">
                <a:solidFill>
                  <a:srgbClr val="141414"/>
                </a:solidFill>
                <a:latin typeface="Avenir" pitchFamily="34" charset="0"/>
                <a:ea typeface="-apple-system" pitchFamily="34" charset="-122"/>
                <a:cs typeface="-apple-system" pitchFamily="34" charset="-120"/>
              </a:rPr>
              <a:t>A small-group AI training program built for our industry. </a:t>
            </a:r>
          </a:p>
          <a:p>
            <a:pPr marL="0" indent="0" algn="l">
              <a:lnSpc>
                <a:spcPct val="135000"/>
              </a:lnSpc>
              <a:buNone/>
            </a:pPr>
            <a:r>
              <a:rPr lang="en-US" sz="2800" b="1" dirty="0">
                <a:solidFill>
                  <a:srgbClr val="141414"/>
                </a:solidFill>
                <a:latin typeface="Avenir" pitchFamily="34" charset="0"/>
                <a:ea typeface="-apple-system" pitchFamily="34" charset="-122"/>
                <a:cs typeface="-apple-system" pitchFamily="34" charset="-120"/>
              </a:rPr>
              <a:t>Six live sessions, plus an ongoing community of practice.</a:t>
            </a:r>
            <a:endParaRPr lang="en-US" sz="2800" dirty="0"/>
          </a:p>
        </p:txBody>
      </p:sp>
      <p:sp>
        <p:nvSpPr>
          <p:cNvPr id="6" name="Shape 4"/>
          <p:cNvSpPr/>
          <p:nvPr/>
        </p:nvSpPr>
        <p:spPr>
          <a:xfrm rot="5400000">
            <a:off x="1183605" y="3342287"/>
            <a:ext cx="322500" cy="440426"/>
          </a:xfrm>
          <a:prstGeom prst="triangle">
            <a:avLst/>
          </a:prstGeom>
          <a:solidFill>
            <a:srgbClr val="008EAA"/>
          </a:solidFill>
          <a:ln/>
        </p:spPr>
        <p:txBody>
          <a:bodyPr/>
          <a:lstStyle/>
          <a:p>
            <a:endParaRPr lang="en-US"/>
          </a:p>
        </p:txBody>
      </p:sp>
      <p:sp>
        <p:nvSpPr>
          <p:cNvPr id="7" name="Text 5"/>
          <p:cNvSpPr/>
          <p:nvPr/>
        </p:nvSpPr>
        <p:spPr>
          <a:xfrm>
            <a:off x="1774031" y="3287500"/>
            <a:ext cx="8696250" cy="550000"/>
          </a:xfrm>
          <a:prstGeom prst="rect">
            <a:avLst/>
          </a:prstGeom>
          <a:noFill/>
          <a:ln/>
        </p:spPr>
        <p:txBody>
          <a:bodyPr wrap="square" lIns="25400" tIns="25400" rIns="25400" bIns="25400" rtlCol="0" anchor="t">
            <a:normAutofit/>
          </a:bodyPr>
          <a:lstStyle/>
          <a:p>
            <a:pPr marL="0" indent="0" algn="l">
              <a:lnSpc>
                <a:spcPct val="130000"/>
              </a:lnSpc>
              <a:buNone/>
            </a:pPr>
            <a:r>
              <a:rPr lang="en-US" sz="2500" b="1" dirty="0">
                <a:solidFill>
                  <a:srgbClr val="141414"/>
                </a:solidFill>
                <a:latin typeface="Avenir" pitchFamily="34" charset="0"/>
                <a:ea typeface="-apple-system" pitchFamily="34" charset="-122"/>
                <a:cs typeface="-apple-system" pitchFamily="34" charset="-120"/>
              </a:rPr>
              <a:t>AI foundations + the prompts that work for your tasks</a:t>
            </a:r>
            <a:endParaRPr lang="en-US" sz="2500" dirty="0"/>
          </a:p>
        </p:txBody>
      </p:sp>
      <p:sp>
        <p:nvSpPr>
          <p:cNvPr id="9" name="Text 7"/>
          <p:cNvSpPr/>
          <p:nvPr/>
        </p:nvSpPr>
        <p:spPr>
          <a:xfrm>
            <a:off x="1774031" y="5012500"/>
            <a:ext cx="8742500" cy="550000"/>
          </a:xfrm>
          <a:prstGeom prst="rect">
            <a:avLst/>
          </a:prstGeom>
          <a:noFill/>
          <a:ln/>
        </p:spPr>
        <p:txBody>
          <a:bodyPr wrap="square" lIns="25400" tIns="25400" rIns="25400" bIns="25400" rtlCol="0" anchor="t">
            <a:normAutofit/>
          </a:bodyPr>
          <a:lstStyle/>
          <a:p>
            <a:pPr marL="0" indent="0" algn="l">
              <a:lnSpc>
                <a:spcPct val="130000"/>
              </a:lnSpc>
              <a:buNone/>
            </a:pPr>
            <a:r>
              <a:rPr lang="en-US" sz="2500" b="1" dirty="0">
                <a:solidFill>
                  <a:srgbClr val="141414"/>
                </a:solidFill>
                <a:latin typeface="Avenir" pitchFamily="34" charset="0"/>
                <a:ea typeface="-apple-system" pitchFamily="34" charset="-122"/>
                <a:cs typeface="-apple-system" pitchFamily="34" charset="-120"/>
              </a:rPr>
              <a:t>Build your context documents end-to-end</a:t>
            </a:r>
            <a:endParaRPr lang="en-US" sz="2500" dirty="0"/>
          </a:p>
        </p:txBody>
      </p:sp>
      <p:sp>
        <p:nvSpPr>
          <p:cNvPr id="11" name="Text 9"/>
          <p:cNvSpPr/>
          <p:nvPr/>
        </p:nvSpPr>
        <p:spPr>
          <a:xfrm>
            <a:off x="1762713" y="4150000"/>
            <a:ext cx="8696250" cy="550000"/>
          </a:xfrm>
          <a:prstGeom prst="rect">
            <a:avLst/>
          </a:prstGeom>
          <a:noFill/>
          <a:ln/>
        </p:spPr>
        <p:txBody>
          <a:bodyPr wrap="square" lIns="25400" tIns="25400" rIns="25400" bIns="25400" rtlCol="0" anchor="t">
            <a:normAutofit/>
          </a:bodyPr>
          <a:lstStyle/>
          <a:p>
            <a:pPr marL="0" indent="0" algn="l">
              <a:lnSpc>
                <a:spcPct val="130000"/>
              </a:lnSpc>
              <a:buNone/>
            </a:pPr>
            <a:r>
              <a:rPr lang="en-US" sz="2500" b="1" dirty="0">
                <a:solidFill>
                  <a:srgbClr val="141414"/>
                </a:solidFill>
                <a:latin typeface="Avenir" pitchFamily="34" charset="0"/>
                <a:ea typeface="-apple-system" pitchFamily="34" charset="-122"/>
                <a:cs typeface="-apple-system" pitchFamily="34" charset="-120"/>
              </a:rPr>
              <a:t>Role-specific AI assistants for your work</a:t>
            </a:r>
            <a:endParaRPr lang="en-US" sz="2500" dirty="0"/>
          </a:p>
        </p:txBody>
      </p:sp>
      <p:sp>
        <p:nvSpPr>
          <p:cNvPr id="13" name="Text 11"/>
          <p:cNvSpPr/>
          <p:nvPr/>
        </p:nvSpPr>
        <p:spPr>
          <a:xfrm>
            <a:off x="1774031" y="5852546"/>
            <a:ext cx="8942287" cy="550000"/>
          </a:xfrm>
          <a:prstGeom prst="rect">
            <a:avLst/>
          </a:prstGeom>
          <a:noFill/>
          <a:ln/>
        </p:spPr>
        <p:txBody>
          <a:bodyPr wrap="square" lIns="25400" tIns="25400" rIns="25400" bIns="25400" rtlCol="0" anchor="t">
            <a:normAutofit/>
          </a:bodyPr>
          <a:lstStyle/>
          <a:p>
            <a:pPr marL="0" indent="0" algn="l">
              <a:lnSpc>
                <a:spcPct val="130000"/>
              </a:lnSpc>
              <a:buNone/>
            </a:pPr>
            <a:r>
              <a:rPr lang="en-US" sz="2500" b="1" dirty="0">
                <a:solidFill>
                  <a:srgbClr val="141414"/>
                </a:solidFill>
                <a:latin typeface="Avenir" pitchFamily="34" charset="0"/>
                <a:ea typeface="-apple-system" pitchFamily="34" charset="-122"/>
                <a:cs typeface="-apple-system" pitchFamily="34" charset="-120"/>
              </a:rPr>
              <a:t>Workflows you'll actually use after the program ends</a:t>
            </a:r>
            <a:endParaRPr lang="en-US" sz="2500" dirty="0"/>
          </a:p>
        </p:txBody>
      </p:sp>
      <p:sp>
        <p:nvSpPr>
          <p:cNvPr id="14" name="Text 12"/>
          <p:cNvSpPr/>
          <p:nvPr/>
        </p:nvSpPr>
        <p:spPr>
          <a:xfrm>
            <a:off x="952500" y="7700000"/>
            <a:ext cx="3000000" cy="450000"/>
          </a:xfrm>
          <a:prstGeom prst="rect">
            <a:avLst/>
          </a:prstGeom>
          <a:noFill/>
          <a:ln/>
        </p:spPr>
        <p:txBody>
          <a:bodyPr wrap="square" lIns="25400" tIns="25400" rIns="25400" bIns="25400" rtlCol="0" anchor="t">
            <a:normAutofit/>
          </a:bodyPr>
          <a:lstStyle/>
          <a:p>
            <a:pPr marL="0" indent="0" algn="l">
              <a:buNone/>
            </a:pPr>
            <a:r>
              <a:rPr lang="en-US" sz="2500" b="1" kern="0" spc="324">
                <a:solidFill>
                  <a:srgbClr val="008EAA"/>
                </a:solidFill>
                <a:latin typeface="Avenir" pitchFamily="34" charset="0"/>
                <a:ea typeface="JetBrains Mono" pitchFamily="34" charset="-122"/>
                <a:cs typeface="JetBrains Mono" pitchFamily="34" charset="-120"/>
              </a:rPr>
              <a:t>FORMAT</a:t>
            </a:r>
            <a:endParaRPr lang="en-US" sz="2500"/>
          </a:p>
        </p:txBody>
      </p:sp>
      <p:sp>
        <p:nvSpPr>
          <p:cNvPr id="15" name="Text 13"/>
          <p:cNvSpPr/>
          <p:nvPr/>
        </p:nvSpPr>
        <p:spPr>
          <a:xfrm>
            <a:off x="952500" y="8200000"/>
            <a:ext cx="3000000" cy="85000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2500" b="1" dirty="0">
                <a:solidFill>
                  <a:srgbClr val="141414"/>
                </a:solidFill>
                <a:latin typeface="Avenir" pitchFamily="34" charset="0"/>
                <a:ea typeface="-apple-system" pitchFamily="34" charset="-122"/>
                <a:cs typeface="-apple-system" pitchFamily="34" charset="-120"/>
              </a:rPr>
              <a:t>Online · Zoom 6 live sessions, 90 min</a:t>
            </a:r>
            <a:endParaRPr lang="en-US" sz="2500" dirty="0"/>
          </a:p>
        </p:txBody>
      </p:sp>
      <p:sp>
        <p:nvSpPr>
          <p:cNvPr id="16" name="Text 14"/>
          <p:cNvSpPr/>
          <p:nvPr/>
        </p:nvSpPr>
        <p:spPr>
          <a:xfrm>
            <a:off x="4100000" y="7700000"/>
            <a:ext cx="3000000" cy="450000"/>
          </a:xfrm>
          <a:prstGeom prst="rect">
            <a:avLst/>
          </a:prstGeom>
          <a:noFill/>
          <a:ln/>
        </p:spPr>
        <p:txBody>
          <a:bodyPr wrap="square" lIns="25400" tIns="25400" rIns="25400" bIns="25400" rtlCol="0" anchor="t">
            <a:normAutofit/>
          </a:bodyPr>
          <a:lstStyle/>
          <a:p>
            <a:pPr marL="0" indent="0" algn="l">
              <a:buNone/>
            </a:pPr>
            <a:r>
              <a:rPr lang="en-US" sz="2500" b="1" kern="0" spc="324">
                <a:solidFill>
                  <a:srgbClr val="008EAA"/>
                </a:solidFill>
                <a:latin typeface="Avenir" pitchFamily="34" charset="0"/>
                <a:ea typeface="JetBrains Mono" pitchFamily="34" charset="-122"/>
                <a:cs typeface="JetBrains Mono" pitchFamily="34" charset="-120"/>
              </a:rPr>
              <a:t>STARTS</a:t>
            </a:r>
            <a:endParaRPr lang="en-US" sz="2500"/>
          </a:p>
        </p:txBody>
      </p:sp>
      <p:sp>
        <p:nvSpPr>
          <p:cNvPr id="17" name="Text 15"/>
          <p:cNvSpPr/>
          <p:nvPr/>
        </p:nvSpPr>
        <p:spPr>
          <a:xfrm>
            <a:off x="4100000" y="8199999"/>
            <a:ext cx="3000000" cy="1837135"/>
          </a:xfrm>
          <a:prstGeom prst="rect">
            <a:avLst/>
          </a:prstGeom>
          <a:noFill/>
          <a:ln/>
        </p:spPr>
        <p:txBody>
          <a:bodyPr wrap="square" lIns="25400" tIns="25400" rIns="25400" bIns="25400" rtlCol="0" anchor="t">
            <a:normAutofit/>
          </a:bodyPr>
          <a:lstStyle/>
          <a:p>
            <a:pPr>
              <a:lnSpc>
                <a:spcPct val="135000"/>
              </a:lnSpc>
            </a:pPr>
            <a:r>
              <a:rPr lang="en-US" sz="2500" b="1" dirty="0">
                <a:solidFill>
                  <a:srgbClr val="141414"/>
                </a:solidFill>
                <a:latin typeface="Avenir" pitchFamily="34" charset="0"/>
                <a:ea typeface="-apple-system" pitchFamily="34" charset="-122"/>
                <a:cs typeface="-apple-system" pitchFamily="34" charset="-120"/>
              </a:rPr>
              <a:t>Jun 2 – July 7, 2026 Wednesdays</a:t>
            </a:r>
            <a:br>
              <a:rPr lang="en-US" sz="2500" b="1" dirty="0">
                <a:solidFill>
                  <a:srgbClr val="141414"/>
                </a:solidFill>
                <a:latin typeface="Avenir" pitchFamily="34" charset="0"/>
                <a:ea typeface="-apple-system" pitchFamily="34" charset="-122"/>
                <a:cs typeface="-apple-system" pitchFamily="34" charset="-120"/>
              </a:rPr>
            </a:br>
            <a:r>
              <a:rPr lang="en-US" sz="2500" b="1" dirty="0">
                <a:solidFill>
                  <a:srgbClr val="141414"/>
                </a:solidFill>
                <a:latin typeface="Avenir" pitchFamily="34" charset="0"/>
                <a:ea typeface="-apple-system" pitchFamily="34" charset="-122"/>
                <a:cs typeface="-apple-system" pitchFamily="34" charset="-120"/>
              </a:rPr>
              <a:t>12:00 PM ET </a:t>
            </a:r>
            <a:endParaRPr lang="en-US" sz="2500" dirty="0"/>
          </a:p>
        </p:txBody>
      </p:sp>
      <p:sp>
        <p:nvSpPr>
          <p:cNvPr id="18" name="Text 16"/>
          <p:cNvSpPr/>
          <p:nvPr/>
        </p:nvSpPr>
        <p:spPr>
          <a:xfrm>
            <a:off x="7250000" y="7700000"/>
            <a:ext cx="3000000" cy="450000"/>
          </a:xfrm>
          <a:prstGeom prst="rect">
            <a:avLst/>
          </a:prstGeom>
          <a:noFill/>
          <a:ln/>
        </p:spPr>
        <p:txBody>
          <a:bodyPr wrap="square" lIns="25400" tIns="25400" rIns="25400" bIns="25400" rtlCol="0" anchor="t">
            <a:normAutofit/>
          </a:bodyPr>
          <a:lstStyle/>
          <a:p>
            <a:pPr marL="0" indent="0" algn="l">
              <a:buNone/>
            </a:pPr>
            <a:r>
              <a:rPr lang="en-US" sz="2500" b="1" kern="0" spc="324">
                <a:solidFill>
                  <a:srgbClr val="008EAA"/>
                </a:solidFill>
                <a:latin typeface="Avenir" pitchFamily="34" charset="0"/>
                <a:ea typeface="JetBrains Mono" pitchFamily="34" charset="-122"/>
                <a:cs typeface="JetBrains Mono" pitchFamily="34" charset="-120"/>
              </a:rPr>
              <a:t>GROUP SIZE</a:t>
            </a:r>
            <a:endParaRPr lang="en-US" sz="2500"/>
          </a:p>
        </p:txBody>
      </p:sp>
      <p:sp>
        <p:nvSpPr>
          <p:cNvPr id="19" name="Text 17"/>
          <p:cNvSpPr/>
          <p:nvPr/>
        </p:nvSpPr>
        <p:spPr>
          <a:xfrm>
            <a:off x="7250000" y="8200000"/>
            <a:ext cx="3000000" cy="85000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2500" b="1">
                <a:solidFill>
                  <a:srgbClr val="141414"/>
                </a:solidFill>
                <a:latin typeface="Avenir" pitchFamily="34" charset="0"/>
                <a:ea typeface="-apple-system" pitchFamily="34" charset="-122"/>
                <a:cs typeface="-apple-system" pitchFamily="34" charset="-120"/>
              </a:rPr>
              <a:t>Min 10 · Max 20 so we can go deep</a:t>
            </a:r>
            <a:endParaRPr lang="en-US" sz="2500"/>
          </a:p>
        </p:txBody>
      </p:sp>
      <p:sp>
        <p:nvSpPr>
          <p:cNvPr id="20" name="Shape 18"/>
          <p:cNvSpPr/>
          <p:nvPr/>
        </p:nvSpPr>
        <p:spPr>
          <a:xfrm>
            <a:off x="10667926" y="0"/>
            <a:ext cx="7620000" cy="10287000"/>
          </a:xfrm>
          <a:prstGeom prst="rect">
            <a:avLst/>
          </a:prstGeom>
          <a:solidFill>
            <a:srgbClr val="141414"/>
          </a:solidFill>
          <a:ln/>
        </p:spPr>
        <p:txBody>
          <a:bodyPr/>
          <a:lstStyle/>
          <a:p>
            <a:endParaRPr lang="en-US"/>
          </a:p>
        </p:txBody>
      </p:sp>
      <p:sp>
        <p:nvSpPr>
          <p:cNvPr id="21" name="Text 19"/>
          <p:cNvSpPr/>
          <p:nvPr/>
        </p:nvSpPr>
        <p:spPr>
          <a:xfrm>
            <a:off x="11200000" y="600000"/>
            <a:ext cx="6300000" cy="450000"/>
          </a:xfrm>
          <a:prstGeom prst="rect">
            <a:avLst/>
          </a:prstGeom>
          <a:noFill/>
          <a:ln/>
        </p:spPr>
        <p:txBody>
          <a:bodyPr wrap="square" lIns="25400" tIns="25400" rIns="25400" bIns="25400" rtlCol="0" anchor="t">
            <a:normAutofit/>
          </a:bodyPr>
          <a:lstStyle/>
          <a:p>
            <a:pPr marL="0" indent="0" algn="l">
              <a:buNone/>
            </a:pPr>
            <a:r>
              <a:rPr lang="en-US" sz="2500" b="1" kern="0" spc="396">
                <a:solidFill>
                  <a:srgbClr val="008EAA"/>
                </a:solidFill>
                <a:latin typeface="Avenir" pitchFamily="34" charset="0"/>
                <a:ea typeface="-apple-system" pitchFamily="34" charset="-122"/>
                <a:cs typeface="-apple-system" pitchFamily="34" charset="-120"/>
              </a:rPr>
              <a:t>GMID CONFERENCE RATE</a:t>
            </a:r>
            <a:endParaRPr lang="en-US" sz="2500"/>
          </a:p>
        </p:txBody>
      </p:sp>
      <p:sp>
        <p:nvSpPr>
          <p:cNvPr id="22" name="Text 20"/>
          <p:cNvSpPr/>
          <p:nvPr/>
        </p:nvSpPr>
        <p:spPr>
          <a:xfrm>
            <a:off x="11200000" y="1150000"/>
            <a:ext cx="5000000" cy="1300000"/>
          </a:xfrm>
          <a:prstGeom prst="rect">
            <a:avLst/>
          </a:prstGeom>
          <a:noFill/>
          <a:ln/>
        </p:spPr>
        <p:txBody>
          <a:bodyPr wrap="square" lIns="25400" tIns="25400" rIns="25400" bIns="25400" rtlCol="0" anchor="t">
            <a:normAutofit fontScale="92500" lnSpcReduction="10000"/>
          </a:bodyPr>
          <a:lstStyle/>
          <a:p>
            <a:pPr marL="0" indent="0" algn="l">
              <a:lnSpc>
                <a:spcPct val="85000"/>
              </a:lnSpc>
              <a:buNone/>
            </a:pPr>
            <a:r>
              <a:rPr lang="en-US" sz="10500" b="1" kern="0" spc="-420" dirty="0">
                <a:solidFill>
                  <a:srgbClr val="008EAA"/>
                </a:solidFill>
                <a:latin typeface="Catamaran" pitchFamily="34" charset="0"/>
                <a:ea typeface="-apple-system" pitchFamily="34" charset="-122"/>
                <a:cs typeface="-apple-system" pitchFamily="34" charset="-120"/>
              </a:rPr>
              <a:t>$1,097</a:t>
            </a:r>
            <a:endParaRPr lang="en-US" sz="10500" dirty="0"/>
          </a:p>
        </p:txBody>
      </p:sp>
      <p:sp>
        <p:nvSpPr>
          <p:cNvPr id="23" name="Text 21"/>
          <p:cNvSpPr/>
          <p:nvPr/>
        </p:nvSpPr>
        <p:spPr>
          <a:xfrm>
            <a:off x="11200000" y="2550000"/>
            <a:ext cx="6300000" cy="450000"/>
          </a:xfrm>
          <a:prstGeom prst="rect">
            <a:avLst/>
          </a:prstGeom>
          <a:noFill/>
          <a:ln/>
        </p:spPr>
        <p:txBody>
          <a:bodyPr wrap="square" lIns="25400" tIns="25400" rIns="25400" bIns="25400" rtlCol="0" anchor="t">
            <a:normAutofit/>
          </a:bodyPr>
          <a:lstStyle/>
          <a:p>
            <a:pPr marL="0" indent="0" algn="l">
              <a:buNone/>
            </a:pPr>
            <a:r>
              <a:rPr lang="en-US" sz="1950" b="1">
                <a:solidFill>
                  <a:srgbClr val="F7F4EE">
                    <a:alpha val="70000"/>
                  </a:srgbClr>
                </a:solidFill>
                <a:latin typeface="Avenir" pitchFamily="34" charset="0"/>
                <a:ea typeface="-apple-system" pitchFamily="34" charset="-122"/>
                <a:cs typeface="-apple-system" pitchFamily="34" charset="-120"/>
              </a:rPr>
              <a:t>Per seat · </a:t>
            </a:r>
            <a:r>
              <a:rPr lang="en-US" sz="1950" b="1" strike="sngStrike">
                <a:solidFill>
                  <a:srgbClr val="F7F4EE">
                    <a:alpha val="70000"/>
                  </a:srgbClr>
                </a:solidFill>
                <a:latin typeface="Avenir" pitchFamily="34" charset="0"/>
                <a:ea typeface="-apple-system" pitchFamily="34" charset="-122"/>
                <a:cs typeface="-apple-system" pitchFamily="34" charset="-120"/>
              </a:rPr>
              <a:t>$1,497 </a:t>
            </a:r>
            <a:r>
              <a:rPr lang="en-US" sz="1950" b="1">
                <a:solidFill>
                  <a:srgbClr val="F7F4EE">
                    <a:alpha val="70000"/>
                  </a:srgbClr>
                </a:solidFill>
                <a:latin typeface="Avenir" pitchFamily="34" charset="0"/>
                <a:ea typeface="-apple-system" pitchFamily="34" charset="-122"/>
                <a:cs typeface="-apple-system" pitchFamily="34" charset="-120"/>
              </a:rPr>
              <a:t>regular</a:t>
            </a:r>
            <a:endParaRPr lang="en-US" sz="1950" dirty="0"/>
          </a:p>
        </p:txBody>
      </p:sp>
      <p:sp>
        <p:nvSpPr>
          <p:cNvPr id="24" name="Shape 22"/>
          <p:cNvSpPr/>
          <p:nvPr/>
        </p:nvSpPr>
        <p:spPr>
          <a:xfrm>
            <a:off x="11200000" y="3200000"/>
            <a:ext cx="4200000" cy="650000"/>
          </a:xfrm>
          <a:prstGeom prst="rect">
            <a:avLst/>
          </a:prstGeom>
          <a:solidFill>
            <a:srgbClr val="008EAA"/>
          </a:solidFill>
          <a:ln/>
        </p:spPr>
        <p:txBody>
          <a:bodyPr/>
          <a:lstStyle/>
          <a:p>
            <a:endParaRPr lang="en-US"/>
          </a:p>
        </p:txBody>
      </p:sp>
      <p:sp>
        <p:nvSpPr>
          <p:cNvPr id="25" name="Text 23"/>
          <p:cNvSpPr/>
          <p:nvPr/>
        </p:nvSpPr>
        <p:spPr>
          <a:xfrm>
            <a:off x="11400000" y="3330000"/>
            <a:ext cx="3800000" cy="420000"/>
          </a:xfrm>
          <a:prstGeom prst="rect">
            <a:avLst/>
          </a:prstGeom>
          <a:noFill/>
          <a:ln/>
        </p:spPr>
        <p:txBody>
          <a:bodyPr wrap="square" lIns="25400" tIns="25400" rIns="25400" bIns="25400" rtlCol="0" anchor="t">
            <a:normAutofit fontScale="85000" lnSpcReduction="10000"/>
          </a:bodyPr>
          <a:lstStyle/>
          <a:p>
            <a:pPr marL="0" indent="0" algn="l">
              <a:buNone/>
            </a:pPr>
            <a:r>
              <a:rPr lang="en-US" sz="2500" b="1" kern="0" spc="180">
                <a:solidFill>
                  <a:srgbClr val="FFFFFF"/>
                </a:solidFill>
                <a:latin typeface="Avenir" pitchFamily="34" charset="0"/>
                <a:ea typeface="-apple-system" pitchFamily="34" charset="-122"/>
                <a:cs typeface="-apple-system" pitchFamily="34" charset="-120"/>
              </a:rPr>
              <a:t>DEADLINE · MAY 16, 2026</a:t>
            </a:r>
            <a:endParaRPr lang="en-US" sz="2500"/>
          </a:p>
        </p:txBody>
      </p:sp>
      <p:sp>
        <p:nvSpPr>
          <p:cNvPr id="26" name="Shape 24"/>
          <p:cNvSpPr/>
          <p:nvPr/>
        </p:nvSpPr>
        <p:spPr>
          <a:xfrm>
            <a:off x="13258726" y="6105525"/>
            <a:ext cx="2438400" cy="2471738"/>
          </a:xfrm>
          <a:prstGeom prst="roundRect">
            <a:avLst>
              <a:gd name="adj" fmla="val 3125"/>
            </a:avLst>
          </a:prstGeom>
          <a:solidFill>
            <a:srgbClr val="FFFFFF"/>
          </a:solidFill>
          <a:ln/>
        </p:spPr>
        <p:txBody>
          <a:bodyPr/>
          <a:lstStyle/>
          <a:p>
            <a:endParaRPr lang="en-US"/>
          </a:p>
        </p:txBody>
      </p:sp>
      <p:pic>
        <p:nvPicPr>
          <p:cNvPr id="27" name="Image 0" descr="preencoded.png"/>
          <p:cNvPicPr>
            <a:picLocks noChangeAspect="1"/>
          </p:cNvPicPr>
          <p:nvPr/>
        </p:nvPicPr>
        <p:blipFill>
          <a:blip r:embed="rId3"/>
          <a:stretch>
            <a:fillRect/>
          </a:stretch>
        </p:blipFill>
        <p:spPr>
          <a:xfrm>
            <a:off x="13430176" y="6276975"/>
            <a:ext cx="2095500" cy="2095500"/>
          </a:xfrm>
          <a:prstGeom prst="rect">
            <a:avLst/>
          </a:prstGeom>
        </p:spPr>
      </p:pic>
      <p:sp>
        <p:nvSpPr>
          <p:cNvPr id="28" name="Text 25"/>
          <p:cNvSpPr/>
          <p:nvPr/>
        </p:nvSpPr>
        <p:spPr>
          <a:xfrm>
            <a:off x="12800000" y="8700000"/>
            <a:ext cx="3200000" cy="420000"/>
          </a:xfrm>
          <a:prstGeom prst="rect">
            <a:avLst/>
          </a:prstGeom>
          <a:noFill/>
          <a:ln/>
        </p:spPr>
        <p:txBody>
          <a:bodyPr wrap="square" lIns="25400" tIns="25400" rIns="25400" bIns="25400" rtlCol="0" anchor="t">
            <a:normAutofit fontScale="85000" lnSpcReduction="10000"/>
          </a:bodyPr>
          <a:lstStyle/>
          <a:p>
            <a:pPr marL="0" indent="0" algn="l">
              <a:buNone/>
            </a:pPr>
            <a:r>
              <a:rPr lang="en-US" sz="2500" b="1" kern="0" spc="324">
                <a:solidFill>
                  <a:srgbClr val="F7F4EE">
                    <a:alpha val="85000"/>
                  </a:srgbClr>
                </a:solidFill>
                <a:latin typeface="Avenir" pitchFamily="34" charset="0"/>
                <a:ea typeface="-apple-system" pitchFamily="34" charset="-122"/>
                <a:cs typeface="-apple-system" pitchFamily="34" charset="-120"/>
              </a:rPr>
              <a:t>SCAN TO REGISTER</a:t>
            </a:r>
            <a:endParaRPr lang="en-US" sz="2500"/>
          </a:p>
        </p:txBody>
      </p:sp>
      <p:sp>
        <p:nvSpPr>
          <p:cNvPr id="29" name="Text 26"/>
          <p:cNvSpPr/>
          <p:nvPr/>
        </p:nvSpPr>
        <p:spPr>
          <a:xfrm>
            <a:off x="12300000" y="9150000"/>
            <a:ext cx="4200000" cy="450000"/>
          </a:xfrm>
          <a:prstGeom prst="rect">
            <a:avLst/>
          </a:prstGeom>
          <a:noFill/>
          <a:ln/>
        </p:spPr>
        <p:txBody>
          <a:bodyPr wrap="square" lIns="25400" tIns="25400" rIns="25400" bIns="25400" rtlCol="0" anchor="t">
            <a:normAutofit fontScale="92500"/>
          </a:bodyPr>
          <a:lstStyle/>
          <a:p>
            <a:pPr marL="0" indent="0" algn="l">
              <a:buNone/>
            </a:pPr>
            <a:r>
              <a:rPr lang="en-US" sz="2500" b="1">
                <a:solidFill>
                  <a:srgbClr val="F7F4EE">
                    <a:alpha val="55000"/>
                  </a:srgbClr>
                </a:solidFill>
                <a:latin typeface="Avenir" pitchFamily="34" charset="0"/>
                <a:ea typeface="JetBrains Mono" pitchFamily="34" charset="-122"/>
                <a:cs typeface="JetBrains Mono" pitchFamily="34" charset="-120"/>
              </a:rPr>
              <a:t>boombusinesssolutions.com/ai</a:t>
            </a:r>
            <a:endParaRPr lang="en-US" sz="2500"/>
          </a:p>
        </p:txBody>
      </p:sp>
      <p:sp>
        <p:nvSpPr>
          <p:cNvPr id="31" name="Shape 4">
            <a:extLst>
              <a:ext uri="{FF2B5EF4-FFF2-40B4-BE49-F238E27FC236}">
                <a16:creationId xmlns:a16="http://schemas.microsoft.com/office/drawing/2014/main" id="{16BF8E5D-DFD1-3F1A-3BF1-100139B9FDE7}"/>
              </a:ext>
            </a:extLst>
          </p:cNvPr>
          <p:cNvSpPr/>
          <p:nvPr/>
        </p:nvSpPr>
        <p:spPr>
          <a:xfrm rot="5400000">
            <a:off x="1181313" y="4195737"/>
            <a:ext cx="322500" cy="440426"/>
          </a:xfrm>
          <a:prstGeom prst="triangle">
            <a:avLst/>
          </a:prstGeom>
          <a:solidFill>
            <a:srgbClr val="008EAA"/>
          </a:solidFill>
          <a:ln/>
        </p:spPr>
        <p:txBody>
          <a:bodyPr/>
          <a:lstStyle/>
          <a:p>
            <a:endParaRPr lang="en-US"/>
          </a:p>
        </p:txBody>
      </p:sp>
      <p:sp>
        <p:nvSpPr>
          <p:cNvPr id="32" name="Shape 4">
            <a:extLst>
              <a:ext uri="{FF2B5EF4-FFF2-40B4-BE49-F238E27FC236}">
                <a16:creationId xmlns:a16="http://schemas.microsoft.com/office/drawing/2014/main" id="{BC6823DC-10E7-4279-EB60-92EA21ED24D9}"/>
              </a:ext>
            </a:extLst>
          </p:cNvPr>
          <p:cNvSpPr/>
          <p:nvPr/>
        </p:nvSpPr>
        <p:spPr>
          <a:xfrm rot="5400000">
            <a:off x="1181313" y="5047906"/>
            <a:ext cx="322500" cy="440426"/>
          </a:xfrm>
          <a:prstGeom prst="triangle">
            <a:avLst/>
          </a:prstGeom>
          <a:solidFill>
            <a:srgbClr val="008EAA"/>
          </a:solidFill>
          <a:ln/>
        </p:spPr>
        <p:txBody>
          <a:bodyPr/>
          <a:lstStyle/>
          <a:p>
            <a:endParaRPr lang="en-US"/>
          </a:p>
        </p:txBody>
      </p:sp>
      <p:sp>
        <p:nvSpPr>
          <p:cNvPr id="33" name="Shape 4">
            <a:extLst>
              <a:ext uri="{FF2B5EF4-FFF2-40B4-BE49-F238E27FC236}">
                <a16:creationId xmlns:a16="http://schemas.microsoft.com/office/drawing/2014/main" id="{FD3DB979-49D6-2A26-7C0B-AB38FF59D3C5}"/>
              </a:ext>
            </a:extLst>
          </p:cNvPr>
          <p:cNvSpPr/>
          <p:nvPr/>
        </p:nvSpPr>
        <p:spPr>
          <a:xfrm rot="5400000">
            <a:off x="1181313" y="5885312"/>
            <a:ext cx="322500" cy="440426"/>
          </a:xfrm>
          <a:prstGeom prst="triangle">
            <a:avLst/>
          </a:prstGeom>
          <a:solidFill>
            <a:srgbClr val="008EAA"/>
          </a:solidFill>
          <a:ln/>
        </p:spPr>
        <p:txBody>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141414"/>
        </a:solidFill>
        <a:effectLst/>
      </p:bgPr>
    </p:bg>
    <p:spTree>
      <p:nvGrpSpPr>
        <p:cNvPr id="1" name=""/>
        <p:cNvGrpSpPr/>
        <p:nvPr/>
      </p:nvGrpSpPr>
      <p:grpSpPr>
        <a:xfrm>
          <a:off x="0" y="0"/>
          <a:ext cx="0" cy="0"/>
          <a:chOff x="0" y="0"/>
          <a:chExt cx="0" cy="0"/>
        </a:xfrm>
      </p:grpSpPr>
      <p:sp>
        <p:nvSpPr>
          <p:cNvPr id="2" name="Text 0"/>
          <p:cNvSpPr/>
          <p:nvPr/>
        </p:nvSpPr>
        <p:spPr>
          <a:xfrm>
            <a:off x="952500" y="952500"/>
            <a:ext cx="4572576" cy="328613"/>
          </a:xfrm>
          <a:prstGeom prst="rect">
            <a:avLst/>
          </a:prstGeom>
          <a:noFill/>
          <a:ln/>
        </p:spPr>
        <p:txBody>
          <a:bodyPr wrap="square" lIns="25400" tIns="25400" rIns="25400" bIns="25400" rtlCol="0" anchor="t">
            <a:normAutofit lnSpcReduction="10000"/>
          </a:bodyPr>
          <a:lstStyle/>
          <a:p>
            <a:pPr marL="0" indent="0" algn="l">
              <a:buNone/>
            </a:pPr>
            <a:r>
              <a:rPr lang="en-US" sz="1950" b="1" kern="0" spc="429">
                <a:solidFill>
                  <a:srgbClr val="008EAA"/>
                </a:solidFill>
                <a:latin typeface="Avenir" pitchFamily="34" charset="0"/>
                <a:ea typeface="-apple-system" pitchFamily="34" charset="-122"/>
                <a:cs typeface="-apple-system" pitchFamily="34" charset="-120"/>
              </a:rPr>
              <a:t>GMID 2026 · MPI TORONTO</a:t>
            </a:r>
            <a:endParaRPr lang="en-US" sz="1950" dirty="0"/>
          </a:p>
        </p:txBody>
      </p:sp>
      <p:pic>
        <p:nvPicPr>
          <p:cNvPr id="3" name="Image 0" descr="preencoded.png"/>
          <p:cNvPicPr>
            <a:picLocks noChangeAspect="1"/>
          </p:cNvPicPr>
          <p:nvPr/>
        </p:nvPicPr>
        <p:blipFill>
          <a:blip r:embed="rId3">
            <a:alphaModFix amt="90000"/>
          </a:blip>
          <a:stretch>
            <a:fillRect/>
          </a:stretch>
        </p:blipFill>
        <p:spPr>
          <a:xfrm>
            <a:off x="16649328" y="952500"/>
            <a:ext cx="686172" cy="685800"/>
          </a:xfrm>
          <a:prstGeom prst="rect">
            <a:avLst/>
          </a:prstGeom>
        </p:spPr>
      </p:pic>
      <p:sp>
        <p:nvSpPr>
          <p:cNvPr id="4" name="Text 1"/>
          <p:cNvSpPr/>
          <p:nvPr/>
        </p:nvSpPr>
        <p:spPr>
          <a:xfrm>
            <a:off x="952500" y="3577605"/>
            <a:ext cx="16874490" cy="2217390"/>
          </a:xfrm>
          <a:prstGeom prst="rect">
            <a:avLst/>
          </a:prstGeom>
          <a:noFill/>
          <a:ln/>
        </p:spPr>
        <p:txBody>
          <a:bodyPr wrap="square" lIns="25400" tIns="25400" rIns="25400" bIns="25400" rtlCol="0" anchor="t">
            <a:normAutofit fontScale="92500" lnSpcReduction="20000"/>
          </a:bodyPr>
          <a:lstStyle/>
          <a:p>
            <a:pPr marL="0" indent="0" algn="l">
              <a:lnSpc>
                <a:spcPct val="88000"/>
              </a:lnSpc>
              <a:buNone/>
            </a:pPr>
            <a:r>
              <a:rPr lang="en-US" sz="19500" b="1" kern="0" spc="-780">
                <a:solidFill>
                  <a:srgbClr val="F7F4EE"/>
                </a:solidFill>
                <a:latin typeface="Catamaran" pitchFamily="34" charset="0"/>
                <a:ea typeface="-apple-system" pitchFamily="34" charset="-122"/>
                <a:cs typeface="-apple-system" pitchFamily="34" charset="-120"/>
              </a:rPr>
              <a:t>Thanks.</a:t>
            </a:r>
            <a:endParaRPr lang="en-US" sz="19500" dirty="0"/>
          </a:p>
        </p:txBody>
      </p:sp>
      <p:sp>
        <p:nvSpPr>
          <p:cNvPr id="5" name="Text 2"/>
          <p:cNvSpPr/>
          <p:nvPr/>
        </p:nvSpPr>
        <p:spPr>
          <a:xfrm>
            <a:off x="952500" y="6214095"/>
            <a:ext cx="13735050" cy="509587"/>
          </a:xfrm>
          <a:prstGeom prst="rect">
            <a:avLst/>
          </a:prstGeom>
          <a:noFill/>
          <a:ln/>
        </p:spPr>
        <p:txBody>
          <a:bodyPr wrap="square" lIns="25400" tIns="25400" rIns="25400" bIns="25400" rtlCol="0" anchor="t">
            <a:normAutofit lnSpcReduction="10000"/>
          </a:bodyPr>
          <a:lstStyle/>
          <a:p>
            <a:pPr marL="0" indent="0" algn="l">
              <a:buNone/>
            </a:pPr>
            <a:r>
              <a:rPr lang="en-US" sz="3150" b="1">
                <a:solidFill>
                  <a:srgbClr val="F7F4EE">
                    <a:alpha val="90000"/>
                  </a:srgbClr>
                </a:solidFill>
                <a:latin typeface="Avenir" pitchFamily="34" charset="0"/>
                <a:ea typeface="-apple-system" pitchFamily="34" charset="-122"/>
                <a:cs typeface="-apple-system" pitchFamily="34" charset="-120"/>
              </a:rPr>
              <a:t>Now go open it up and </a:t>
            </a:r>
            <a:r>
              <a:rPr lang="en-US" sz="3150" b="1">
                <a:solidFill>
                  <a:srgbClr val="008EAA">
                    <a:alpha val="90000"/>
                  </a:srgbClr>
                </a:solidFill>
                <a:latin typeface="Avenir" pitchFamily="34" charset="0"/>
                <a:ea typeface="-apple-system" pitchFamily="34" charset="-122"/>
                <a:cs typeface="-apple-system" pitchFamily="34" charset="-120"/>
              </a:rPr>
              <a:t>tell it what you're dealing with.</a:t>
            </a:r>
            <a:endParaRPr lang="en-US" sz="3150" dirty="0"/>
          </a:p>
        </p:txBody>
      </p:sp>
      <p:sp>
        <p:nvSpPr>
          <p:cNvPr id="6" name="Text 3"/>
          <p:cNvSpPr/>
          <p:nvPr/>
        </p:nvSpPr>
        <p:spPr>
          <a:xfrm>
            <a:off x="952500" y="8624888"/>
            <a:ext cx="2844198" cy="400050"/>
          </a:xfrm>
          <a:prstGeom prst="rect">
            <a:avLst/>
          </a:prstGeom>
          <a:noFill/>
          <a:ln/>
        </p:spPr>
        <p:txBody>
          <a:bodyPr wrap="square" lIns="25400" tIns="25400" rIns="25400" bIns="25400" rtlCol="0" anchor="t">
            <a:normAutofit lnSpcReduction="10000"/>
          </a:bodyPr>
          <a:lstStyle/>
          <a:p>
            <a:pPr marL="0" indent="0" algn="l">
              <a:buNone/>
            </a:pPr>
            <a:r>
              <a:rPr lang="en-US" sz="2400" b="1">
                <a:solidFill>
                  <a:srgbClr val="F7F4EE"/>
                </a:solidFill>
                <a:latin typeface="Avenir" pitchFamily="34" charset="0"/>
                <a:ea typeface="-apple-system" pitchFamily="34" charset="-122"/>
                <a:cs typeface="-apple-system" pitchFamily="34" charset="-120"/>
              </a:rPr>
              <a:t>Roxanne Kennedy</a:t>
            </a:r>
            <a:endParaRPr lang="en-US" sz="2400" dirty="0"/>
          </a:p>
        </p:txBody>
      </p:sp>
      <p:sp>
        <p:nvSpPr>
          <p:cNvPr id="7" name="Text 4"/>
          <p:cNvSpPr/>
          <p:nvPr/>
        </p:nvSpPr>
        <p:spPr>
          <a:xfrm>
            <a:off x="952500" y="9043988"/>
            <a:ext cx="2844198" cy="328613"/>
          </a:xfrm>
          <a:prstGeom prst="rect">
            <a:avLst/>
          </a:prstGeom>
          <a:noFill/>
          <a:ln/>
        </p:spPr>
        <p:txBody>
          <a:bodyPr wrap="square" lIns="25400" tIns="25400" rIns="25400" bIns="25400" rtlCol="0" anchor="t">
            <a:normAutofit lnSpcReduction="10000"/>
          </a:bodyPr>
          <a:lstStyle/>
          <a:p>
            <a:pPr marL="0" indent="0" algn="l">
              <a:buNone/>
            </a:pPr>
            <a:r>
              <a:rPr lang="en-US" sz="1950" b="1">
                <a:solidFill>
                  <a:srgbClr val="F7F4EE">
                    <a:alpha val="70000"/>
                  </a:srgbClr>
                </a:solidFill>
                <a:latin typeface="Avenir" pitchFamily="34" charset="0"/>
                <a:ea typeface="-apple-system" pitchFamily="34" charset="-122"/>
                <a:cs typeface="-apple-system" pitchFamily="34" charset="-120"/>
              </a:rPr>
              <a:t>Boom Business Solutions</a:t>
            </a:r>
            <a:endParaRPr lang="en-US" sz="1950" dirty="0"/>
          </a:p>
        </p:txBody>
      </p:sp>
      <p:sp>
        <p:nvSpPr>
          <p:cNvPr id="8" name="Text 5"/>
          <p:cNvSpPr/>
          <p:nvPr/>
        </p:nvSpPr>
        <p:spPr>
          <a:xfrm>
            <a:off x="13906500" y="9034463"/>
            <a:ext cx="3531870" cy="338138"/>
          </a:xfrm>
          <a:prstGeom prst="rect">
            <a:avLst/>
          </a:prstGeom>
          <a:noFill/>
          <a:ln/>
        </p:spPr>
        <p:txBody>
          <a:bodyPr wrap="square" lIns="25400" tIns="25400" rIns="25400" bIns="25400" rtlCol="0" anchor="t">
            <a:normAutofit/>
          </a:bodyPr>
          <a:lstStyle/>
          <a:p>
            <a:pPr marL="0" indent="0" algn="l">
              <a:buNone/>
            </a:pPr>
            <a:r>
              <a:rPr lang="en-US" sz="1800" b="1">
                <a:solidFill>
                  <a:srgbClr val="F7F4EE">
                    <a:alpha val="70000"/>
                  </a:srgbClr>
                </a:solidFill>
                <a:latin typeface="Avenir" pitchFamily="34" charset="0"/>
                <a:ea typeface="JetBrains Mono" pitchFamily="34" charset="-122"/>
                <a:cs typeface="JetBrains Mono" pitchFamily="34" charset="-120"/>
              </a:rPr>
              <a:t>boombusinesssolutions.com</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TotalTime>
  <Words>2663</Words>
  <Application>Microsoft Macintosh PowerPoint</Application>
  <PresentationFormat>Custom</PresentationFormat>
  <Paragraphs>180</Paragraphs>
  <Slides>23</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Avenir</vt:lpstr>
      <vt:lpstr>Avenir Book</vt:lpstr>
      <vt:lpstr>Catamaran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Roxanne Kennedy</cp:lastModifiedBy>
  <cp:revision>2</cp:revision>
  <dcterms:created xsi:type="dcterms:W3CDTF">2026-05-02T01:40:46Z</dcterms:created>
  <dcterms:modified xsi:type="dcterms:W3CDTF">2026-05-02T03:58:43Z</dcterms:modified>
</cp:coreProperties>
</file>